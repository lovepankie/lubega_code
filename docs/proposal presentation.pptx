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6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G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69589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7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09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5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92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86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1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42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67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43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63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33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36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19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50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54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3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G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6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85416"/>
            <a:ext cx="7704667" cy="3291840"/>
          </a:xfrm>
        </p:spPr>
        <p:txBody>
          <a:bodyPr/>
          <a:lstStyle/>
          <a:p>
            <a:endParaRPr dirty="0"/>
          </a:p>
          <a:p>
            <a:r>
              <a:rPr dirty="0"/>
              <a:t>Uganda’s electricity sector faces high distribution losses.</a:t>
            </a:r>
          </a:p>
          <a:p>
            <a:r>
              <a:rPr dirty="0"/>
              <a:t>Non-technical losses (theft/tampering) = 40–60% in urban areas.</a:t>
            </a:r>
          </a:p>
          <a:p>
            <a:r>
              <a:rPr dirty="0"/>
              <a:t>UEDCL annual revenue loss: UGX 28</a:t>
            </a:r>
            <a:r>
              <a:rPr lang="en-US" dirty="0"/>
              <a:t>0</a:t>
            </a:r>
            <a:r>
              <a:rPr dirty="0"/>
              <a:t>B.</a:t>
            </a:r>
          </a:p>
          <a:p>
            <a:r>
              <a:rPr dirty="0"/>
              <a:t>Manual detection &lt;35% effective, delays of 3–6 months.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93976"/>
            <a:ext cx="7704667" cy="2706624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dirty="0"/>
              <a:t>Persistent theft threatens financial stability.</a:t>
            </a:r>
          </a:p>
          <a:p>
            <a:r>
              <a:rPr dirty="0"/>
              <a:t>95% of meters lack real-time monitoring.</a:t>
            </a:r>
            <a:endParaRPr lang="en-US" dirty="0"/>
          </a:p>
          <a:p>
            <a:r>
              <a:rPr lang="en-US" dirty="0"/>
              <a:t>Losses projected to reach 25% by 2030.</a:t>
            </a:r>
          </a:p>
          <a:p>
            <a:r>
              <a:rPr lang="en-US" dirty="0"/>
              <a:t>Consumers pay 12–18% extra tariffs due to theft.</a:t>
            </a:r>
          </a:p>
          <a:p>
            <a:r>
              <a:rPr lang="en-US" dirty="0"/>
              <a:t>A Smart meter with AI capabilities represent a significant advancement in energy management, enabling real-time monitoring, predictive analytics, and automated responses to irregularities in power usage hence helping timely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How can </a:t>
            </a:r>
            <a:r>
              <a:rPr lang="en-US" dirty="0"/>
              <a:t>an AI-Powered Smart Meter for Real-Time Anomaly Detection </a:t>
            </a:r>
            <a:r>
              <a:rPr dirty="0"/>
              <a:t>provide real-time monitoring in Uganda’s grid?</a:t>
            </a:r>
          </a:p>
          <a:p>
            <a:r>
              <a:rPr dirty="0"/>
              <a:t>Which ML algorithms best detect theft patterns with accuracy and low false positives?</a:t>
            </a:r>
          </a:p>
          <a:p>
            <a:r>
              <a:rPr dirty="0"/>
              <a:t>What technical, economic, and operational factors enable large-scale deployment?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b="1" dirty="0"/>
              <a:t>Main Objective: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To design,</a:t>
            </a:r>
            <a:r>
              <a:rPr dirty="0"/>
              <a:t> </a:t>
            </a:r>
            <a:r>
              <a:rPr lang="en-US" dirty="0"/>
              <a:t>d</a:t>
            </a:r>
            <a:r>
              <a:rPr dirty="0"/>
              <a:t>evelop</a:t>
            </a:r>
            <a:r>
              <a:rPr lang="en-US" dirty="0"/>
              <a:t>,</a:t>
            </a:r>
            <a:r>
              <a:rPr dirty="0"/>
              <a:t> an</a:t>
            </a:r>
            <a:r>
              <a:rPr lang="en-US" dirty="0"/>
              <a:t>d prototype</a:t>
            </a:r>
            <a:r>
              <a:rPr dirty="0"/>
              <a:t> </a:t>
            </a:r>
            <a:r>
              <a:rPr lang="en-US" dirty="0"/>
              <a:t>an </a:t>
            </a:r>
            <a:r>
              <a:rPr dirty="0"/>
              <a:t>AI-based smart </a:t>
            </a:r>
            <a:r>
              <a:rPr lang="en-US" dirty="0"/>
              <a:t>energy </a:t>
            </a:r>
            <a:r>
              <a:rPr dirty="0"/>
              <a:t>meter</a:t>
            </a:r>
            <a:r>
              <a:rPr lang="en-US" dirty="0"/>
              <a:t> capable of accurate energy measurement and real-time power theft detection</a:t>
            </a:r>
            <a:r>
              <a:rPr dirty="0"/>
              <a:t>: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Specific objectives:</a:t>
            </a:r>
            <a:endParaRPr b="1"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lang="en-US" dirty="0"/>
              <a:t>To integrate ESP32 microcontroller and PZEM004T</a:t>
            </a:r>
            <a:r>
              <a:rPr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lang="en-US" dirty="0"/>
              <a:t>To develop a robust IoT data pipeline for secure, real-time data transmission to a cloud platform</a:t>
            </a: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train and deploy an ensemble ML model capable of distinguishing between legitimate load variations and theft patterns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implement a user-friendly dashboard for utilities and consumers to monitor consumption and receive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Significance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56232"/>
            <a:ext cx="7704667" cy="3730752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To UEDCL &amp; Power Sector: Recover UGX 80–120B, reduce O&amp;M costs by 25–35%.</a:t>
            </a:r>
          </a:p>
          <a:p>
            <a:r>
              <a:rPr dirty="0"/>
              <a:t>To Consumers: Lower tariffs (8–12%), improved billing accuracy &amp; trust.</a:t>
            </a:r>
          </a:p>
          <a:p>
            <a:r>
              <a:rPr dirty="0"/>
              <a:t>To National Development: Supports NDP III, Vision 2040, SDGs 7 &amp; 9.</a:t>
            </a:r>
          </a:p>
          <a:p>
            <a:r>
              <a:rPr dirty="0"/>
              <a:t>To Academia: Provides empirical evidence on AI + IoT for African utilities.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8401"/>
            <a:ext cx="7704667" cy="3386327"/>
          </a:xfrm>
        </p:spPr>
        <p:txBody>
          <a:bodyPr/>
          <a:lstStyle/>
          <a:p>
            <a:endParaRPr dirty="0"/>
          </a:p>
          <a:p>
            <a:r>
              <a:rPr dirty="0"/>
              <a:t>Technical: IoT (ESP32</a:t>
            </a:r>
            <a:r>
              <a:rPr lang="en-US" dirty="0"/>
              <a:t> and PZEM004T) are</a:t>
            </a:r>
            <a:r>
              <a:rPr dirty="0"/>
              <a:t> affordable.</a:t>
            </a:r>
          </a:p>
          <a:p>
            <a:r>
              <a:rPr dirty="0"/>
              <a:t>Economic: 30% theft reduction = UGX 84B recovery.</a:t>
            </a:r>
          </a:p>
          <a:p>
            <a:r>
              <a:rPr dirty="0"/>
              <a:t>Operational: Aligns with UEDCL’s digitalization strategy.</a:t>
            </a:r>
          </a:p>
          <a:p>
            <a:r>
              <a:rPr dirty="0"/>
              <a:t>Social: Fair billing, reduced corruption, community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Geographical: Kampala (</a:t>
            </a:r>
            <a:r>
              <a:rPr dirty="0" err="1"/>
              <a:t>Bwaise</a:t>
            </a:r>
            <a:r>
              <a:rPr dirty="0"/>
              <a:t>, </a:t>
            </a:r>
            <a:r>
              <a:rPr dirty="0" err="1"/>
              <a:t>Kisenyi</a:t>
            </a:r>
            <a:r>
              <a:rPr dirty="0"/>
              <a:t>, Katwe).</a:t>
            </a:r>
          </a:p>
          <a:p>
            <a:r>
              <a:rPr dirty="0"/>
              <a:t>Technical: </a:t>
            </a:r>
            <a:r>
              <a:rPr lang="en-US" dirty="0"/>
              <a:t>Three</a:t>
            </a:r>
            <a:r>
              <a:rPr dirty="0"/>
              <a:t>-phase </a:t>
            </a:r>
            <a:r>
              <a:rPr lang="en-US" dirty="0"/>
              <a:t>415</a:t>
            </a:r>
            <a:r>
              <a:rPr dirty="0"/>
              <a:t>V/50Hz, theft types (bypass, tampering, anomalies).</a:t>
            </a:r>
          </a:p>
          <a:p>
            <a:r>
              <a:rPr dirty="0"/>
              <a:t>Temporal: </a:t>
            </a:r>
            <a:r>
              <a:rPr lang="en-US" dirty="0"/>
              <a:t>8</a:t>
            </a:r>
            <a:r>
              <a:rPr dirty="0"/>
              <a:t> months (design → pilot → evaluation).</a:t>
            </a:r>
          </a:p>
          <a:p>
            <a:r>
              <a:rPr dirty="0"/>
              <a:t>Content: Hardware, firmware, ML models, pilot deployment,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9CA3E-6486-0638-8733-263C8862B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948" y="914401"/>
            <a:ext cx="6947127" cy="89534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Literature Review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9058B-0C8C-B4E1-7D44-A20D8A06D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2573" y="2371726"/>
            <a:ext cx="6947127" cy="3395472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dirty="0"/>
              <a:t>AMR Meters: Rule-</a:t>
            </a:r>
            <a:r>
              <a:rPr lang="de-DE" sz="2000" dirty="0" err="1"/>
              <a:t>based</a:t>
            </a:r>
            <a:r>
              <a:rPr lang="de-DE" sz="2000" dirty="0"/>
              <a:t> </a:t>
            </a:r>
            <a:r>
              <a:rPr lang="de-DE" sz="2000" dirty="0" err="1"/>
              <a:t>detection</a:t>
            </a:r>
            <a:r>
              <a:rPr lang="de-DE" sz="2000" dirty="0"/>
              <a:t> (e.g., shunt via </a:t>
            </a:r>
            <a:r>
              <a:rPr lang="de-DE" sz="2000" dirty="0" err="1"/>
              <a:t>current</a:t>
            </a:r>
            <a:r>
              <a:rPr lang="de-DE" sz="2000" dirty="0"/>
              <a:t> &lt; 0.1 A) (Jones &amp; Brown, 2021).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dirty="0" err="1"/>
              <a:t>Limitations</a:t>
            </a:r>
            <a:r>
              <a:rPr lang="de-DE" sz="2000" dirty="0"/>
              <a:t>: Miss </a:t>
            </a:r>
            <a:r>
              <a:rPr lang="de-DE" sz="2000" dirty="0" err="1"/>
              <a:t>subtle</a:t>
            </a:r>
            <a:r>
              <a:rPr lang="de-DE" sz="2000" dirty="0"/>
              <a:t> </a:t>
            </a:r>
            <a:r>
              <a:rPr lang="de-DE" sz="2000" dirty="0" err="1"/>
              <a:t>tampering</a:t>
            </a:r>
            <a:r>
              <a:rPr lang="de-DE" sz="2000" dirty="0"/>
              <a:t> (e.g., partial </a:t>
            </a:r>
            <a:r>
              <a:rPr lang="de-DE" sz="2000" dirty="0" err="1"/>
              <a:t>diversion</a:t>
            </a:r>
            <a:r>
              <a:rPr lang="de-DE" sz="2000" dirty="0"/>
              <a:t>), </a:t>
            </a:r>
            <a:r>
              <a:rPr lang="de-DE" sz="2000" dirty="0" err="1"/>
              <a:t>delayed</a:t>
            </a:r>
            <a:r>
              <a:rPr lang="de-DE" sz="2000" dirty="0"/>
              <a:t> </a:t>
            </a:r>
            <a:r>
              <a:rPr lang="de-DE" sz="2000" dirty="0" err="1"/>
              <a:t>analysis</a:t>
            </a:r>
            <a:r>
              <a:rPr lang="de-DE" sz="2000" dirty="0"/>
              <a:t>, and </a:t>
            </a:r>
            <a:r>
              <a:rPr lang="de-DE" sz="2000" dirty="0" err="1"/>
              <a:t>no</a:t>
            </a:r>
            <a:r>
              <a:rPr lang="de-DE" sz="2000" dirty="0"/>
              <a:t> </a:t>
            </a:r>
            <a:r>
              <a:rPr lang="de-DE" sz="2000" dirty="0" err="1"/>
              <a:t>magnetic</a:t>
            </a:r>
            <a:r>
              <a:rPr lang="de-DE" sz="2000" dirty="0"/>
              <a:t> </a:t>
            </a:r>
            <a:r>
              <a:rPr lang="de-DE" sz="2000" dirty="0" err="1"/>
              <a:t>detection</a:t>
            </a:r>
            <a:r>
              <a:rPr lang="de-DE" sz="2000" dirty="0"/>
              <a:t> in </a:t>
            </a:r>
            <a:r>
              <a:rPr lang="de-DE" sz="2000" dirty="0" err="1"/>
              <a:t>budget</a:t>
            </a:r>
            <a:r>
              <a:rPr lang="de-DE" sz="2000" dirty="0"/>
              <a:t> </a:t>
            </a:r>
            <a:r>
              <a:rPr lang="de-DE" sz="2000" dirty="0" err="1"/>
              <a:t>models</a:t>
            </a:r>
            <a:r>
              <a:rPr lang="de-DE" sz="2000" dirty="0"/>
              <a:t> (Patel &amp; Kumar, 2022; </a:t>
            </a:r>
            <a:r>
              <a:rPr lang="de-DE" sz="2000" dirty="0" err="1"/>
              <a:t>Kenya</a:t>
            </a:r>
            <a:r>
              <a:rPr lang="de-DE" sz="2000" dirty="0"/>
              <a:t> Power, 2023).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dirty="0"/>
              <a:t>AI Solutions: </a:t>
            </a:r>
            <a:r>
              <a:rPr lang="de-DE" sz="2000" dirty="0" err="1"/>
              <a:t>Improve</a:t>
            </a:r>
            <a:r>
              <a:rPr lang="de-DE" sz="2000" dirty="0"/>
              <a:t> </a:t>
            </a:r>
            <a:r>
              <a:rPr lang="de-DE" sz="2000" dirty="0" err="1"/>
              <a:t>accuracy</a:t>
            </a:r>
            <a:r>
              <a:rPr lang="de-DE" sz="2000" dirty="0"/>
              <a:t> (&gt;85%) but expensive, </a:t>
            </a:r>
            <a:r>
              <a:rPr lang="de-DE" sz="2000" dirty="0" err="1"/>
              <a:t>complex</a:t>
            </a:r>
            <a:r>
              <a:rPr lang="de-DE" sz="2000" dirty="0"/>
              <a:t> (Li et al., 2023).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de-DE" sz="2000" dirty="0"/>
              <a:t>Gap: </a:t>
            </a:r>
            <a:r>
              <a:rPr lang="de-DE" sz="2000" dirty="0" err="1"/>
              <a:t>No</a:t>
            </a:r>
            <a:r>
              <a:rPr lang="de-DE" sz="2000" dirty="0"/>
              <a:t> </a:t>
            </a:r>
            <a:r>
              <a:rPr lang="de-DE" sz="2000" dirty="0" err="1"/>
              <a:t>low-cost</a:t>
            </a:r>
            <a:r>
              <a:rPr lang="de-DE" sz="2000" dirty="0"/>
              <a:t>, real-time AI </a:t>
            </a:r>
            <a:r>
              <a:rPr lang="de-DE" sz="2000" dirty="0" err="1"/>
              <a:t>meters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East </a:t>
            </a:r>
            <a:r>
              <a:rPr lang="de-DE" sz="2000" dirty="0" err="1"/>
              <a:t>Africa’s</a:t>
            </a:r>
            <a:r>
              <a:rPr lang="de-DE" sz="2000" dirty="0"/>
              <a:t> </a:t>
            </a:r>
            <a:r>
              <a:rPr lang="de-DE" sz="2000" dirty="0" err="1"/>
              <a:t>unstable</a:t>
            </a:r>
            <a:r>
              <a:rPr lang="de-DE" sz="2000" dirty="0"/>
              <a:t> </a:t>
            </a:r>
            <a:r>
              <a:rPr lang="de-DE" sz="2000" dirty="0" err="1"/>
              <a:t>grid</a:t>
            </a:r>
            <a:r>
              <a:rPr lang="de-DE" sz="2000" dirty="0"/>
              <a:t> (190–250 V) (</a:t>
            </a:r>
            <a:r>
              <a:rPr lang="de-DE" sz="2000" dirty="0" err="1"/>
              <a:t>Mwangi</a:t>
            </a:r>
            <a:r>
              <a:rPr lang="de-DE" sz="2000" dirty="0"/>
              <a:t> &amp; </a:t>
            </a:r>
            <a:r>
              <a:rPr lang="de-DE" sz="2000" dirty="0" err="1"/>
              <a:t>Ochieng</a:t>
            </a:r>
            <a:r>
              <a:rPr lang="de-DE" sz="2000" dirty="0"/>
              <a:t>, 2023).</a:t>
            </a:r>
          </a:p>
          <a:p>
            <a:endParaRPr lang="de-DE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1464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D4F3-D14C-F672-E2A5-E3F73E74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75562-C1CF-54B2-8608-E4DD25F1E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</a:t>
            </a:r>
            <a:r>
              <a:rPr lang="en-US" dirty="0" err="1"/>
              <a:t>requirements:Microcontroller</a:t>
            </a:r>
            <a:r>
              <a:rPr lang="en-US" dirty="0"/>
              <a:t> ESP32,</a:t>
            </a:r>
            <a:r>
              <a:rPr lang="de-DE" dirty="0"/>
              <a:t> PZEM-004T Module:</a:t>
            </a:r>
          </a:p>
          <a:p>
            <a:r>
              <a:rPr lang="de-DE" dirty="0"/>
              <a:t>Software </a:t>
            </a:r>
            <a:r>
              <a:rPr lang="de-DE" dirty="0" err="1"/>
              <a:t>requirements:Arduino</a:t>
            </a:r>
            <a:r>
              <a:rPr lang="de-DE" dirty="0"/>
              <a:t> </a:t>
            </a:r>
            <a:r>
              <a:rPr lang="de-DE" dirty="0" err="1"/>
              <a:t>IDE,Jupyter</a:t>
            </a:r>
            <a:r>
              <a:rPr lang="de-DE" dirty="0"/>
              <a:t> </a:t>
            </a:r>
            <a:r>
              <a:rPr lang="de-DE" dirty="0" err="1"/>
              <a:t>Notebook,AI</a:t>
            </a:r>
            <a:r>
              <a:rPr lang="de-DE" dirty="0"/>
              <a:t>/ML </a:t>
            </a:r>
            <a:r>
              <a:rPr lang="de-DE" dirty="0" err="1"/>
              <a:t>frameworks</a:t>
            </a:r>
            <a:r>
              <a:rPr lang="de-DE" dirty="0"/>
              <a:t>(Tensor </a:t>
            </a:r>
            <a:r>
              <a:rPr lang="de-DE" dirty="0" err="1"/>
              <a:t>flow</a:t>
            </a:r>
            <a:r>
              <a:rPr lang="de-DE" dirty="0"/>
              <a:t>)</a:t>
            </a:r>
            <a:r>
              <a:rPr lang="de-DE" dirty="0" err="1"/>
              <a:t>lite,cloud</a:t>
            </a:r>
            <a:r>
              <a:rPr lang="de-DE" dirty="0"/>
              <a:t> </a:t>
            </a:r>
            <a:r>
              <a:rPr lang="de-DE" dirty="0" err="1"/>
              <a:t>platform</a:t>
            </a:r>
            <a:r>
              <a:rPr lang="de-DE" dirty="0"/>
              <a:t>-things </a:t>
            </a:r>
            <a:r>
              <a:rPr lang="de-DE" dirty="0" err="1"/>
              <a:t>speak</a:t>
            </a:r>
            <a:endParaRPr lang="de-DE" dirty="0"/>
          </a:p>
          <a:p>
            <a:endParaRPr lang="en-US" dirty="0"/>
          </a:p>
          <a:p>
            <a:pPr marL="0" indent="0">
              <a:buNone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171348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5753E-2587-D50F-2D28-61FBED6A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flows from load measurement to anomaly/tampering alert</a:t>
            </a:r>
            <a:endParaRPr lang="en-UG" dirty="0"/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200AF6C5-B9CE-23A6-C282-8B754FCDF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657" y="2438402"/>
            <a:ext cx="6942576" cy="3744946"/>
          </a:xfrm>
        </p:spPr>
      </p:pic>
    </p:spTree>
    <p:extLst>
      <p:ext uri="{BB962C8B-B14F-4D97-AF65-F5344CB8AC3E}">
        <p14:creationId xmlns:p14="http://schemas.microsoft.com/office/powerpoint/2010/main" val="350733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203</TotalTime>
  <Words>557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Wingdings</vt:lpstr>
      <vt:lpstr>Parallax</vt:lpstr>
      <vt:lpstr>Background</vt:lpstr>
      <vt:lpstr>Problem Statement</vt:lpstr>
      <vt:lpstr>Research Questions</vt:lpstr>
      <vt:lpstr>Objectives</vt:lpstr>
      <vt:lpstr>Significance of the Study</vt:lpstr>
      <vt:lpstr>Justification</vt:lpstr>
      <vt:lpstr>Scope</vt:lpstr>
      <vt:lpstr>Literature Review</vt:lpstr>
      <vt:lpstr>Methodology</vt:lpstr>
      <vt:lpstr>Data flows from load measurement to anomaly/tampering alert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Joel Kisakye</dc:creator>
  <cp:keywords/>
  <dc:description>generated using python-pptx</dc:description>
  <cp:lastModifiedBy>Lubega Peter</cp:lastModifiedBy>
  <cp:revision>11</cp:revision>
  <dcterms:created xsi:type="dcterms:W3CDTF">2013-01-27T09:14:16Z</dcterms:created>
  <dcterms:modified xsi:type="dcterms:W3CDTF">2025-10-15T08:42:21Z</dcterms:modified>
  <cp:category/>
</cp:coreProperties>
</file>