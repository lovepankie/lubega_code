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Rectangle 1"/>
          <p:cNvSpPr/>
          <p:nvPr/>
        </p:nvSpPr>
        <p:spPr>
          <a:xfrm>
            <a:off x="0" y="0"/>
            <a:ext cx="12188952" cy="164592"/>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548640"/>
          </a:xfrm>
          <a:prstGeom prst="rect">
            <a:avLst/>
          </a:prstGeom>
          <a:noFill/>
        </p:spPr>
        <p:txBody>
          <a:bodyPr wrap="square">
            <a:spAutoFit/>
          </a:bodyPr>
          <a:lstStyle/>
          <a:p>
            <a:pPr algn="ctr"/>
            <a:r>
              <a:rPr sz="2000" b="1" i="0">
                <a:solidFill>
                  <a:srgbClr val="FFFFFF"/>
                </a:solidFill>
                <a:latin typeface="Calibri"/>
              </a:rPr>
              <a:t>NDEJJE UNIVERSITY</a:t>
            </a:r>
          </a:p>
        </p:txBody>
      </p:sp>
      <p:sp>
        <p:nvSpPr>
          <p:cNvPr id="4" name="TextBox 3"/>
          <p:cNvSpPr txBox="1"/>
          <p:nvPr/>
        </p:nvSpPr>
        <p:spPr>
          <a:xfrm>
            <a:off x="457200" y="777240"/>
            <a:ext cx="10972800" cy="365760"/>
          </a:xfrm>
          <a:prstGeom prst="rect">
            <a:avLst/>
          </a:prstGeom>
          <a:noFill/>
        </p:spPr>
        <p:txBody>
          <a:bodyPr wrap="square">
            <a:spAutoFit/>
          </a:bodyPr>
          <a:lstStyle/>
          <a:p>
            <a:pPr algn="ctr"/>
            <a:r>
              <a:rPr sz="1200" b="0" i="0">
                <a:solidFill>
                  <a:srgbClr val="C49A22"/>
                </a:solidFill>
                <a:latin typeface="Calibri"/>
              </a:rPr>
              <a:t>Faculty of Engineering and Surveying  |  Dept. of Electrical &amp; Electronics Engineering</a:t>
            </a:r>
          </a:p>
        </p:txBody>
      </p:sp>
      <p:sp>
        <p:nvSpPr>
          <p:cNvPr id="5" name="Rectangle 4"/>
          <p:cNvSpPr/>
          <p:nvPr/>
        </p:nvSpPr>
        <p:spPr>
          <a:xfrm>
            <a:off x="1371600" y="1234440"/>
            <a:ext cx="9418320" cy="4572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11247120" cy="2286000"/>
          </a:xfrm>
          <a:prstGeom prst="rect">
            <a:avLst/>
          </a:prstGeom>
          <a:noFill/>
        </p:spPr>
        <p:txBody>
          <a:bodyPr wrap="square">
            <a:spAutoFit/>
          </a:bodyPr>
          <a:lstStyle/>
          <a:p>
            <a:pPr algn="ctr"/>
            <a:r>
              <a:rPr sz="2600" b="1" i="0">
                <a:solidFill>
                  <a:srgbClr val="FFFFFF"/>
                </a:solidFill>
                <a:latin typeface="Calibri"/>
              </a:rPr>
              <a:t>DESIGN AND IMPLEMENTATION OF A REAL-TIME
ELECTRICITY THEFT DETECTION SYSTEM
USING MACHINE LEARNING ON RASPBERRY PI</a:t>
            </a:r>
          </a:p>
        </p:txBody>
      </p:sp>
      <p:sp>
        <p:nvSpPr>
          <p:cNvPr id="7" name="Rectangle 6"/>
          <p:cNvSpPr/>
          <p:nvPr/>
        </p:nvSpPr>
        <p:spPr>
          <a:xfrm>
            <a:off x="1371600" y="3657600"/>
            <a:ext cx="9418320" cy="4572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794760"/>
            <a:ext cx="10972800" cy="822960"/>
          </a:xfrm>
          <a:prstGeom prst="rect">
            <a:avLst/>
          </a:prstGeom>
          <a:noFill/>
        </p:spPr>
        <p:txBody>
          <a:bodyPr wrap="square">
            <a:spAutoFit/>
          </a:bodyPr>
          <a:lstStyle/>
          <a:p>
            <a:pPr algn="ctr"/>
            <a:r>
              <a:rPr sz="1500" b="1" i="0">
                <a:solidFill>
                  <a:srgbClr val="FFFFFF"/>
                </a:solidFill>
                <a:latin typeface="Calibri"/>
              </a:rPr>
              <a:t>[STUDENT_1_NAME]  ([STUDENT_1_REG])
[STUDENT_2_NAME]  ([STUDENT_2_REG])</a:t>
            </a:r>
          </a:p>
        </p:txBody>
      </p:sp>
      <p:sp>
        <p:nvSpPr>
          <p:cNvPr id="9" name="TextBox 8"/>
          <p:cNvSpPr txBox="1"/>
          <p:nvPr/>
        </p:nvSpPr>
        <p:spPr>
          <a:xfrm>
            <a:off x="457200" y="4617720"/>
            <a:ext cx="10972800" cy="365760"/>
          </a:xfrm>
          <a:prstGeom prst="rect">
            <a:avLst/>
          </a:prstGeom>
          <a:noFill/>
        </p:spPr>
        <p:txBody>
          <a:bodyPr wrap="square">
            <a:spAutoFit/>
          </a:bodyPr>
          <a:lstStyle/>
          <a:p>
            <a:pPr algn="ctr"/>
            <a:r>
              <a:rPr sz="1300" b="0" i="0">
                <a:solidFill>
                  <a:srgbClr val="C49A22"/>
                </a:solidFill>
                <a:latin typeface="Calibri"/>
              </a:rPr>
              <a:t>Supervisors: [SUPERVISOR_NAME]  ·  [CO_SUPERVISOR_NAME]</a:t>
            </a:r>
          </a:p>
        </p:txBody>
      </p:sp>
      <p:sp>
        <p:nvSpPr>
          <p:cNvPr id="10" name="TextBox 9"/>
          <p:cNvSpPr txBox="1"/>
          <p:nvPr/>
        </p:nvSpPr>
        <p:spPr>
          <a:xfrm>
            <a:off x="457200" y="5029200"/>
            <a:ext cx="10972800" cy="320040"/>
          </a:xfrm>
          <a:prstGeom prst="rect">
            <a:avLst/>
          </a:prstGeom>
          <a:noFill/>
        </p:spPr>
        <p:txBody>
          <a:bodyPr wrap="square">
            <a:spAutoFit/>
          </a:bodyPr>
          <a:lstStyle/>
          <a:p>
            <a:pPr algn="ctr"/>
            <a:r>
              <a:rPr sz="1200" b="0" i="0">
                <a:solidFill>
                  <a:srgbClr val="F2F2F2"/>
                </a:solidFill>
                <a:latin typeface="Calibri"/>
              </a:rPr>
              <a:t>Academic Year: 2024/2025</a:t>
            </a:r>
          </a:p>
        </p:txBody>
      </p:sp>
      <p:sp>
        <p:nvSpPr>
          <p:cNvPr id="11" name="Rectangle 10"/>
          <p:cNvSpPr/>
          <p:nvPr/>
        </p:nvSpPr>
        <p:spPr>
          <a:xfrm>
            <a:off x="0" y="6693408"/>
            <a:ext cx="12188952" cy="164592"/>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Introduction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i="0">
                <a:solidFill>
                  <a:srgbClr val="C49A22"/>
                </a:solidFill>
                <a:latin typeface="Calibri"/>
              </a:rPr>
              <a:t>Background to the Study</a:t>
            </a:r>
          </a:p>
        </p:txBody>
      </p:sp>
      <p:sp>
        <p:nvSpPr>
          <p:cNvPr id="5" name="Rectangle 4"/>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8" name="TextBox 7"/>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2 / 17</a:t>
            </a:r>
          </a:p>
        </p:txBody>
      </p:sp>
      <p:sp>
        <p:nvSpPr>
          <p:cNvPr id="9" name="Rectangle 8"/>
          <p:cNvSpPr/>
          <p:nvPr/>
        </p:nvSpPr>
        <p:spPr>
          <a:xfrm>
            <a:off x="274320" y="1234440"/>
            <a:ext cx="5486400" cy="52120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325880"/>
            <a:ext cx="5303520" cy="411480"/>
          </a:xfrm>
          <a:prstGeom prst="rect">
            <a:avLst/>
          </a:prstGeom>
          <a:noFill/>
        </p:spPr>
        <p:txBody>
          <a:bodyPr wrap="square">
            <a:spAutoFit/>
          </a:bodyPr>
          <a:lstStyle/>
          <a:p>
            <a:pPr algn="l"/>
            <a:r>
              <a:rPr sz="1600" b="1" i="0">
                <a:solidFill>
                  <a:srgbClr val="C49A22"/>
                </a:solidFill>
                <a:latin typeface="Calibri"/>
              </a:rPr>
              <a:t>Uganda's Power Sector</a:t>
            </a:r>
          </a:p>
        </p:txBody>
      </p:sp>
      <p:sp>
        <p:nvSpPr>
          <p:cNvPr id="11" name="TextBox 10"/>
          <p:cNvSpPr txBox="1"/>
          <p:nvPr/>
        </p:nvSpPr>
        <p:spPr>
          <a:xfrm>
            <a:off x="365760" y="1828800"/>
            <a:ext cx="5120640" cy="4572000"/>
          </a:xfrm>
          <a:prstGeom prst="rect">
            <a:avLst/>
          </a:prstGeom>
          <a:noFill/>
        </p:spPr>
        <p:txBody>
          <a:bodyPr wrap="square">
            <a:spAutoFit/>
          </a:bodyPr>
          <a:lstStyle/>
          <a:p>
            <a:pPr>
              <a:spcBef>
                <a:spcPts val="400"/>
              </a:spcBef>
            </a:pPr>
            <a:r>
              <a:rPr sz="1400">
                <a:solidFill>
                  <a:srgbClr val="FFFFFF"/>
                </a:solidFill>
                <a:latin typeface="Calibri"/>
              </a:rPr>
              <a:t>▪ UEDCL distributes electricity to urban &amp; peri-urban Uganda</a:t>
            </a:r>
          </a:p>
          <a:p>
            <a:pPr>
              <a:spcBef>
                <a:spcPts val="400"/>
              </a:spcBef>
            </a:pPr>
            <a:r>
              <a:rPr sz="1400">
                <a:solidFill>
                  <a:srgbClr val="FFFFFF"/>
                </a:solidFill>
                <a:latin typeface="Calibri"/>
              </a:rPr>
              <a:t>▪ Bujagali (250 MW), Karuma (600 MW), Isimba (183 MW) generation capacity</a:t>
            </a:r>
          </a:p>
          <a:p>
            <a:pPr>
              <a:spcBef>
                <a:spcPts val="400"/>
              </a:spcBef>
            </a:pPr>
            <a:r>
              <a:rPr sz="1400">
                <a:solidFill>
                  <a:srgbClr val="FFFFFF"/>
                </a:solidFill>
                <a:latin typeface="Calibri"/>
              </a:rPr>
              <a:t>▪ Non-Technical Losses (NTL): energy delivered but not billed</a:t>
            </a:r>
          </a:p>
          <a:p>
            <a:pPr>
              <a:spcBef>
                <a:spcPts val="400"/>
              </a:spcBef>
            </a:pPr>
            <a:r>
              <a:rPr sz="1400">
                <a:solidFill>
                  <a:srgbClr val="FFFFFF"/>
                </a:solidFill>
                <a:latin typeface="Calibri"/>
              </a:rPr>
              <a:t>▪ Urban NTL rate: 40–60% in Bwaise, Kisenyi, Katwe (Kampala)</a:t>
            </a:r>
          </a:p>
          <a:p>
            <a:pPr>
              <a:spcBef>
                <a:spcPts val="400"/>
              </a:spcBef>
            </a:pPr>
            <a:r>
              <a:rPr sz="1400">
                <a:solidFill>
                  <a:srgbClr val="FFFFFF"/>
                </a:solidFill>
                <a:latin typeface="Calibri"/>
              </a:rPr>
              <a:t>▪ Annual revenue loss to UEDCL: &gt; UGX 280 billion</a:t>
            </a:r>
          </a:p>
          <a:p>
            <a:pPr>
              <a:spcBef>
                <a:spcPts val="400"/>
              </a:spcBef>
            </a:pPr>
            <a:r>
              <a:rPr sz="1400">
                <a:solidFill>
                  <a:srgbClr val="FFFFFF"/>
                </a:solidFill>
                <a:latin typeface="Calibri"/>
              </a:rPr>
              <a:t>▪ Sub-Saharan Africa total: ~USD 4 billion/year (IEA, 2023)</a:t>
            </a:r>
          </a:p>
        </p:txBody>
      </p:sp>
      <p:sp>
        <p:nvSpPr>
          <p:cNvPr id="12" name="Rectangle 11"/>
          <p:cNvSpPr/>
          <p:nvPr/>
        </p:nvSpPr>
        <p:spPr>
          <a:xfrm>
            <a:off x="6126480" y="1234440"/>
            <a:ext cx="5760720" cy="521208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1325880"/>
            <a:ext cx="5577840" cy="411480"/>
          </a:xfrm>
          <a:prstGeom prst="rect">
            <a:avLst/>
          </a:prstGeom>
          <a:noFill/>
        </p:spPr>
        <p:txBody>
          <a:bodyPr wrap="square">
            <a:spAutoFit/>
          </a:bodyPr>
          <a:lstStyle/>
          <a:p>
            <a:pPr algn="l"/>
            <a:r>
              <a:rPr sz="1600" b="1" i="0">
                <a:solidFill>
                  <a:srgbClr val="FFFFFF"/>
                </a:solidFill>
                <a:latin typeface="Calibri"/>
              </a:rPr>
              <a:t>The CT Bypass Theft Mechanism</a:t>
            </a:r>
          </a:p>
        </p:txBody>
      </p:sp>
      <p:sp>
        <p:nvSpPr>
          <p:cNvPr id="14" name="TextBox 13"/>
          <p:cNvSpPr txBox="1"/>
          <p:nvPr/>
        </p:nvSpPr>
        <p:spPr>
          <a:xfrm>
            <a:off x="6217920" y="1828800"/>
            <a:ext cx="5577840" cy="4572000"/>
          </a:xfrm>
          <a:prstGeom prst="rect">
            <a:avLst/>
          </a:prstGeom>
          <a:noFill/>
        </p:spPr>
        <p:txBody>
          <a:bodyPr wrap="square">
            <a:spAutoFit/>
          </a:bodyPr>
          <a:lstStyle/>
          <a:p>
            <a:pPr>
              <a:spcBef>
                <a:spcPts val="400"/>
              </a:spcBef>
            </a:pPr>
            <a:r>
              <a:rPr sz="1400">
                <a:solidFill>
                  <a:srgbClr val="FFFFFF"/>
                </a:solidFill>
                <a:latin typeface="Calibri"/>
              </a:rPr>
              <a:t>▪ Most prevalent meter tampering in Uganda</a:t>
            </a:r>
          </a:p>
          <a:p>
            <a:pPr>
              <a:spcBef>
                <a:spcPts val="400"/>
              </a:spcBef>
            </a:pPr>
            <a:r>
              <a:rPr sz="1400">
                <a:solidFill>
                  <a:srgbClr val="FFFFFF"/>
                </a:solidFill>
                <a:latin typeface="Calibri"/>
              </a:rPr>
              <a:t>▪ CT clamp measures phase current → bypass reroutes conductor AROUND clamp</a:t>
            </a:r>
          </a:p>
          <a:p>
            <a:pPr>
              <a:spcBef>
                <a:spcPts val="400"/>
              </a:spcBef>
            </a:pPr>
            <a:r>
              <a:rPr sz="1400">
                <a:solidFill>
                  <a:srgbClr val="FFFFFF"/>
                </a:solidFill>
                <a:latin typeface="Calibri"/>
              </a:rPr>
              <a:t>▪ Meter records zero (or reduced) current on bypassed phase</a:t>
            </a:r>
          </a:p>
          <a:p>
            <a:pPr>
              <a:spcBef>
                <a:spcPts val="400"/>
              </a:spcBef>
            </a:pPr>
            <a:r>
              <a:rPr sz="1400">
                <a:solidFill>
                  <a:srgbClr val="FFFFFF"/>
                </a:solidFill>
                <a:latin typeface="Calibri"/>
              </a:rPr>
              <a:t>▪ Load continues drawing power — undetected</a:t>
            </a:r>
          </a:p>
          <a:p>
            <a:pPr>
              <a:spcBef>
                <a:spcPts val="400"/>
              </a:spcBef>
            </a:pPr>
            <a:r>
              <a:rPr sz="1400">
                <a:solidFill>
                  <a:srgbClr val="FFFFFF"/>
                </a:solidFill>
                <a:latin typeface="Calibri"/>
              </a:rPr>
              <a:t>▪ Partial bypass: 1 or 2 phases → maintains some apparent consumption to avoid suspicion</a:t>
            </a:r>
          </a:p>
          <a:p>
            <a:pPr>
              <a:spcBef>
                <a:spcPts val="400"/>
              </a:spcBef>
            </a:pPr>
            <a:r>
              <a:rPr sz="1400">
                <a:solidFill>
                  <a:srgbClr val="FFFFFF"/>
                </a:solidFill>
                <a:latin typeface="Calibri"/>
              </a:rPr>
              <a:t>▪ Total bypass: all 3 phases → meter goes blind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Introduction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i="0">
                <a:solidFill>
                  <a:srgbClr val="C49A22"/>
                </a:solidFill>
                <a:latin typeface="Calibri"/>
              </a:rPr>
              <a:t>Why Existing Methods Fail</a:t>
            </a:r>
          </a:p>
        </p:txBody>
      </p:sp>
      <p:sp>
        <p:nvSpPr>
          <p:cNvPr id="5" name="Rectangle 4"/>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8" name="TextBox 7"/>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3 / 17</a:t>
            </a:r>
          </a:p>
        </p:txBody>
      </p:sp>
      <p:sp>
        <p:nvSpPr>
          <p:cNvPr id="9" name="Rectangle 8"/>
          <p:cNvSpPr/>
          <p:nvPr/>
        </p:nvSpPr>
        <p:spPr>
          <a:xfrm>
            <a:off x="365760" y="1417320"/>
            <a:ext cx="2560320" cy="164592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508760"/>
            <a:ext cx="2560320" cy="822960"/>
          </a:xfrm>
          <a:prstGeom prst="rect">
            <a:avLst/>
          </a:prstGeom>
          <a:noFill/>
        </p:spPr>
        <p:txBody>
          <a:bodyPr wrap="square">
            <a:spAutoFit/>
          </a:bodyPr>
          <a:lstStyle/>
          <a:p>
            <a:pPr algn="ctr"/>
            <a:r>
              <a:rPr sz="3000" b="1" i="0">
                <a:solidFill>
                  <a:srgbClr val="C49A22"/>
                </a:solidFill>
                <a:latin typeface="Calibri"/>
              </a:rPr>
              <a:t>40–60%</a:t>
            </a:r>
          </a:p>
        </p:txBody>
      </p:sp>
      <p:sp>
        <p:nvSpPr>
          <p:cNvPr id="11" name="TextBox 10"/>
          <p:cNvSpPr txBox="1"/>
          <p:nvPr/>
        </p:nvSpPr>
        <p:spPr>
          <a:xfrm>
            <a:off x="365760" y="2240280"/>
            <a:ext cx="2560320" cy="640080"/>
          </a:xfrm>
          <a:prstGeom prst="rect">
            <a:avLst/>
          </a:prstGeom>
          <a:noFill/>
        </p:spPr>
        <p:txBody>
          <a:bodyPr wrap="square">
            <a:spAutoFit/>
          </a:bodyPr>
          <a:lstStyle/>
          <a:p>
            <a:pPr algn="ctr"/>
            <a:r>
              <a:rPr sz="1300" b="0" i="0">
                <a:solidFill>
                  <a:srgbClr val="FFFFFF"/>
                </a:solidFill>
                <a:latin typeface="Calibri"/>
              </a:rPr>
              <a:t>NTL rate in
high-density zones</a:t>
            </a:r>
          </a:p>
        </p:txBody>
      </p:sp>
      <p:sp>
        <p:nvSpPr>
          <p:cNvPr id="12" name="Rectangle 11"/>
          <p:cNvSpPr/>
          <p:nvPr/>
        </p:nvSpPr>
        <p:spPr>
          <a:xfrm>
            <a:off x="3246120" y="1417320"/>
            <a:ext cx="2560320" cy="164592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46120" y="1508760"/>
            <a:ext cx="2560320" cy="822960"/>
          </a:xfrm>
          <a:prstGeom prst="rect">
            <a:avLst/>
          </a:prstGeom>
          <a:noFill/>
        </p:spPr>
        <p:txBody>
          <a:bodyPr wrap="square">
            <a:spAutoFit/>
          </a:bodyPr>
          <a:lstStyle/>
          <a:p>
            <a:pPr algn="ctr"/>
            <a:r>
              <a:rPr sz="3000" b="1" i="0">
                <a:solidFill>
                  <a:srgbClr val="C49A22"/>
                </a:solidFill>
                <a:latin typeface="Calibri"/>
              </a:rPr>
              <a:t>&lt; 35%</a:t>
            </a:r>
          </a:p>
        </p:txBody>
      </p:sp>
      <p:sp>
        <p:nvSpPr>
          <p:cNvPr id="14" name="TextBox 13"/>
          <p:cNvSpPr txBox="1"/>
          <p:nvPr/>
        </p:nvSpPr>
        <p:spPr>
          <a:xfrm>
            <a:off x="3246120" y="2240280"/>
            <a:ext cx="2560320" cy="640080"/>
          </a:xfrm>
          <a:prstGeom prst="rect">
            <a:avLst/>
          </a:prstGeom>
          <a:noFill/>
        </p:spPr>
        <p:txBody>
          <a:bodyPr wrap="square">
            <a:spAutoFit/>
          </a:bodyPr>
          <a:lstStyle/>
          <a:p>
            <a:pPr algn="ctr"/>
            <a:r>
              <a:rPr sz="1300" b="0" i="0">
                <a:solidFill>
                  <a:srgbClr val="FFFFFF"/>
                </a:solidFill>
                <a:latin typeface="Calibri"/>
              </a:rPr>
              <a:t>Manual detection
effectiveness</a:t>
            </a:r>
          </a:p>
        </p:txBody>
      </p:sp>
      <p:sp>
        <p:nvSpPr>
          <p:cNvPr id="15" name="Rectangle 14"/>
          <p:cNvSpPr/>
          <p:nvPr/>
        </p:nvSpPr>
        <p:spPr>
          <a:xfrm>
            <a:off x="6126480" y="1417320"/>
            <a:ext cx="2560320" cy="164592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0" y="1508760"/>
            <a:ext cx="2560320" cy="822960"/>
          </a:xfrm>
          <a:prstGeom prst="rect">
            <a:avLst/>
          </a:prstGeom>
          <a:noFill/>
        </p:spPr>
        <p:txBody>
          <a:bodyPr wrap="square">
            <a:spAutoFit/>
          </a:bodyPr>
          <a:lstStyle/>
          <a:p>
            <a:pPr algn="ctr"/>
            <a:r>
              <a:rPr sz="3000" b="1" i="0">
                <a:solidFill>
                  <a:srgbClr val="C49A22"/>
                </a:solidFill>
                <a:latin typeface="Calibri"/>
              </a:rPr>
              <a:t>3–6 months</a:t>
            </a:r>
          </a:p>
        </p:txBody>
      </p:sp>
      <p:sp>
        <p:nvSpPr>
          <p:cNvPr id="17" name="TextBox 16"/>
          <p:cNvSpPr txBox="1"/>
          <p:nvPr/>
        </p:nvSpPr>
        <p:spPr>
          <a:xfrm>
            <a:off x="6126480" y="2240280"/>
            <a:ext cx="2560320" cy="640080"/>
          </a:xfrm>
          <a:prstGeom prst="rect">
            <a:avLst/>
          </a:prstGeom>
          <a:noFill/>
        </p:spPr>
        <p:txBody>
          <a:bodyPr wrap="square">
            <a:spAutoFit/>
          </a:bodyPr>
          <a:lstStyle/>
          <a:p>
            <a:pPr algn="ctr"/>
            <a:r>
              <a:rPr sz="1300" b="0" i="0">
                <a:solidFill>
                  <a:srgbClr val="FFFFFF"/>
                </a:solidFill>
                <a:latin typeface="Calibri"/>
              </a:rPr>
              <a:t>Average detection
delay</a:t>
            </a:r>
          </a:p>
        </p:txBody>
      </p:sp>
      <p:sp>
        <p:nvSpPr>
          <p:cNvPr id="18" name="Rectangle 17"/>
          <p:cNvSpPr/>
          <p:nvPr/>
        </p:nvSpPr>
        <p:spPr>
          <a:xfrm>
            <a:off x="9006840" y="1417320"/>
            <a:ext cx="2560320" cy="164592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06840" y="1508760"/>
            <a:ext cx="2560320" cy="822960"/>
          </a:xfrm>
          <a:prstGeom prst="rect">
            <a:avLst/>
          </a:prstGeom>
          <a:noFill/>
        </p:spPr>
        <p:txBody>
          <a:bodyPr wrap="square">
            <a:spAutoFit/>
          </a:bodyPr>
          <a:lstStyle/>
          <a:p>
            <a:pPr algn="ctr"/>
            <a:r>
              <a:rPr sz="3000" b="1" i="0">
                <a:solidFill>
                  <a:srgbClr val="C49A22"/>
                </a:solidFill>
                <a:latin typeface="Calibri"/>
              </a:rPr>
              <a:t>95%</a:t>
            </a:r>
          </a:p>
        </p:txBody>
      </p:sp>
      <p:sp>
        <p:nvSpPr>
          <p:cNvPr id="20" name="TextBox 19"/>
          <p:cNvSpPr txBox="1"/>
          <p:nvPr/>
        </p:nvSpPr>
        <p:spPr>
          <a:xfrm>
            <a:off x="9006840" y="2240280"/>
            <a:ext cx="2560320" cy="640080"/>
          </a:xfrm>
          <a:prstGeom prst="rect">
            <a:avLst/>
          </a:prstGeom>
          <a:noFill/>
        </p:spPr>
        <p:txBody>
          <a:bodyPr wrap="square">
            <a:spAutoFit/>
          </a:bodyPr>
          <a:lstStyle/>
          <a:p>
            <a:pPr algn="ctr"/>
            <a:r>
              <a:rPr sz="1300" b="0" i="0">
                <a:solidFill>
                  <a:srgbClr val="FFFFFF"/>
                </a:solidFill>
                <a:latin typeface="Calibri"/>
              </a:rPr>
              <a:t>Meters with
no real-time monitoring</a:t>
            </a:r>
          </a:p>
        </p:txBody>
      </p:sp>
      <p:sp>
        <p:nvSpPr>
          <p:cNvPr id="21" name="Rectangle 20"/>
          <p:cNvSpPr/>
          <p:nvPr/>
        </p:nvSpPr>
        <p:spPr>
          <a:xfrm>
            <a:off x="365760" y="3246120"/>
            <a:ext cx="11430000"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3429000"/>
            <a:ext cx="11430000" cy="548640"/>
          </a:xfrm>
          <a:prstGeom prst="rect">
            <a:avLst/>
          </a:prstGeom>
          <a:noFill/>
        </p:spPr>
        <p:txBody>
          <a:bodyPr wrap="square">
            <a:spAutoFit/>
          </a:bodyPr>
          <a:lstStyle/>
          <a:p>
            <a:pPr algn="ctr"/>
            <a:r>
              <a:rPr sz="1500" b="1" i="0">
                <a:solidFill>
                  <a:srgbClr val="404040"/>
                </a:solidFill>
                <a:latin typeface="Calibri"/>
              </a:rPr>
              <a:t>Conventional inspection approaches are too slow, too manual, and too dangerous in informal settlement environments.</a:t>
            </a:r>
          </a:p>
        </p:txBody>
      </p:sp>
      <p:sp>
        <p:nvSpPr>
          <p:cNvPr id="23" name="Rectangle 22"/>
          <p:cNvSpPr/>
          <p:nvPr/>
        </p:nvSpPr>
        <p:spPr>
          <a:xfrm>
            <a:off x="365760" y="4069080"/>
            <a:ext cx="11430000" cy="1645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114800"/>
            <a:ext cx="10972800" cy="365760"/>
          </a:xfrm>
          <a:prstGeom prst="rect">
            <a:avLst/>
          </a:prstGeom>
          <a:noFill/>
        </p:spPr>
        <p:txBody>
          <a:bodyPr wrap="square">
            <a:spAutoFit/>
          </a:bodyPr>
          <a:lstStyle/>
          <a:p>
            <a:pPr algn="l"/>
            <a:r>
              <a:rPr sz="1600" b="1" i="0">
                <a:solidFill>
                  <a:srgbClr val="C49A22"/>
                </a:solidFill>
                <a:latin typeface="Calibri"/>
              </a:rPr>
              <a:t>Proposed Solution</a:t>
            </a:r>
          </a:p>
        </p:txBody>
      </p:sp>
      <p:sp>
        <p:nvSpPr>
          <p:cNvPr id="25" name="TextBox 24"/>
          <p:cNvSpPr txBox="1"/>
          <p:nvPr/>
        </p:nvSpPr>
        <p:spPr>
          <a:xfrm>
            <a:off x="548640" y="4526280"/>
            <a:ext cx="10972800" cy="1097280"/>
          </a:xfrm>
          <a:prstGeom prst="rect">
            <a:avLst/>
          </a:prstGeom>
          <a:noFill/>
        </p:spPr>
        <p:txBody>
          <a:bodyPr wrap="square">
            <a:spAutoFit/>
          </a:bodyPr>
          <a:lstStyle/>
          <a:p>
            <a:pPr>
              <a:spcBef>
                <a:spcPts val="400"/>
              </a:spcBef>
            </a:pPr>
            <a:r>
              <a:rPr sz="1400">
                <a:solidFill>
                  <a:srgbClr val="FFFFFF"/>
                </a:solidFill>
                <a:latin typeface="Calibri"/>
              </a:rPr>
              <a:t>▪ Continuously monitor the electrical signature of each three-phase connection</a:t>
            </a:r>
          </a:p>
          <a:p>
            <a:pPr>
              <a:spcBef>
                <a:spcPts val="400"/>
              </a:spcBef>
            </a:pPr>
            <a:r>
              <a:rPr sz="1400">
                <a:solidFill>
                  <a:srgbClr val="FFFFFF"/>
                </a:solidFill>
                <a:latin typeface="Calibri"/>
              </a:rPr>
              <a:t>▪ Apply a trained ML classifier to detect CT bypass anomalies in near real-time (&lt; 15 minutes)</a:t>
            </a:r>
          </a:p>
          <a:p>
            <a:pPr>
              <a:spcBef>
                <a:spcPts val="400"/>
              </a:spcBef>
            </a:pPr>
            <a:r>
              <a:rPr sz="1400">
                <a:solidFill>
                  <a:srgbClr val="FFFFFF"/>
                </a:solidFill>
                <a:latin typeface="Calibri"/>
              </a:rPr>
              <a:t>▪ Alert utility engineers via cloud dashboard — no manual inspection required for initial detection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Problem Statement</a:t>
            </a:r>
          </a:p>
        </p:txBody>
      </p:sp>
      <p:sp>
        <p:nvSpPr>
          <p:cNvPr id="4" name="Rectangle 3"/>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7" name="TextBox 6"/>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4 / 17</a:t>
            </a:r>
          </a:p>
        </p:txBody>
      </p:sp>
      <p:sp>
        <p:nvSpPr>
          <p:cNvPr id="8" name="Rectangle 7"/>
          <p:cNvSpPr/>
          <p:nvPr/>
        </p:nvSpPr>
        <p:spPr>
          <a:xfrm>
            <a:off x="457200" y="1600200"/>
            <a:ext cx="11247120" cy="73152"/>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828800"/>
            <a:ext cx="11247120" cy="2103120"/>
          </a:xfrm>
          <a:prstGeom prst="rect">
            <a:avLst/>
          </a:prstGeom>
          <a:noFill/>
        </p:spPr>
        <p:txBody>
          <a:bodyPr wrap="square">
            <a:spAutoFit/>
          </a:bodyPr>
          <a:lstStyle/>
          <a:p>
            <a:pPr algn="ctr"/>
            <a:r>
              <a:rPr sz="2000" b="0" i="0">
                <a:solidFill>
                  <a:srgbClr val="FFFFFF"/>
                </a:solidFill>
                <a:latin typeface="Calibri"/>
              </a:rPr>
              <a:t>Electricity theft in Uganda's urban distribution network, specifically through Current Transformer (CT) bypass tampering, causes annual revenue losses exceeding UGX 280 billion to UEDCL. Existing detection mechanisms rely on infrequent manual inspection with detection rates below 35% and delays of three to six months. There is no deployed automated system capable of detecting CT bypass theft in real time at the individual meter level using the electrical signature of the load.</a:t>
            </a:r>
          </a:p>
        </p:txBody>
      </p:sp>
      <p:sp>
        <p:nvSpPr>
          <p:cNvPr id="10" name="Rectangle 9"/>
          <p:cNvSpPr/>
          <p:nvPr/>
        </p:nvSpPr>
        <p:spPr>
          <a:xfrm>
            <a:off x="457200" y="3977640"/>
            <a:ext cx="11247120" cy="73152"/>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4251960"/>
            <a:ext cx="11247120" cy="502920"/>
          </a:xfrm>
          <a:prstGeom prst="rect">
            <a:avLst/>
          </a:prstGeom>
          <a:noFill/>
        </p:spPr>
        <p:txBody>
          <a:bodyPr wrap="square">
            <a:spAutoFit/>
          </a:bodyPr>
          <a:lstStyle/>
          <a:p>
            <a:pPr algn="ctr"/>
            <a:r>
              <a:rPr sz="2200" b="1" i="0">
                <a:solidFill>
                  <a:srgbClr val="C49A22"/>
                </a:solidFill>
                <a:latin typeface="Calibri"/>
              </a:rPr>
              <a:t>This project addresses that gap.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Objectives</a:t>
            </a:r>
          </a:p>
        </p:txBody>
      </p:sp>
      <p:sp>
        <p:nvSpPr>
          <p:cNvPr id="4" name="Rectangle 3"/>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7" name="TextBox 6"/>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5 / 17</a:t>
            </a:r>
          </a:p>
        </p:txBody>
      </p:sp>
      <p:sp>
        <p:nvSpPr>
          <p:cNvPr id="8" name="Rectangle 7"/>
          <p:cNvSpPr/>
          <p:nvPr/>
        </p:nvSpPr>
        <p:spPr>
          <a:xfrm>
            <a:off x="274320" y="1325880"/>
            <a:ext cx="11612880" cy="777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344168"/>
            <a:ext cx="2743200" cy="320040"/>
          </a:xfrm>
          <a:prstGeom prst="rect">
            <a:avLst/>
          </a:prstGeom>
          <a:noFill/>
        </p:spPr>
        <p:txBody>
          <a:bodyPr wrap="square">
            <a:spAutoFit/>
          </a:bodyPr>
          <a:lstStyle/>
          <a:p>
            <a:pPr algn="l"/>
            <a:r>
              <a:rPr sz="1300" b="1" i="0">
                <a:solidFill>
                  <a:srgbClr val="C49A22"/>
                </a:solidFill>
                <a:latin typeface="Calibri"/>
              </a:rPr>
              <a:t>General Objective</a:t>
            </a:r>
          </a:p>
        </p:txBody>
      </p:sp>
      <p:sp>
        <p:nvSpPr>
          <p:cNvPr id="10" name="TextBox 9"/>
          <p:cNvSpPr txBox="1"/>
          <p:nvPr/>
        </p:nvSpPr>
        <p:spPr>
          <a:xfrm>
            <a:off x="365760" y="1618488"/>
            <a:ext cx="11430000" cy="457200"/>
          </a:xfrm>
          <a:prstGeom prst="rect">
            <a:avLst/>
          </a:prstGeom>
          <a:noFill/>
        </p:spPr>
        <p:txBody>
          <a:bodyPr wrap="square">
            <a:spAutoFit/>
          </a:bodyPr>
          <a:lstStyle/>
          <a:p>
            <a:pPr algn="l"/>
            <a:r>
              <a:rPr sz="1300" b="0" i="0">
                <a:solidFill>
                  <a:srgbClr val="FFFFFF"/>
                </a:solidFill>
                <a:latin typeface="Calibri"/>
              </a:rPr>
              <a:t>To design and implement a real-time electricity theft detection system using machine learning on a Raspberry Pi to identify CT bypass tampering and alert utility engineers via a cloud dashboard.</a:t>
            </a:r>
          </a:p>
        </p:txBody>
      </p:sp>
      <p:sp>
        <p:nvSpPr>
          <p:cNvPr id="11" name="TextBox 10"/>
          <p:cNvSpPr txBox="1"/>
          <p:nvPr/>
        </p:nvSpPr>
        <p:spPr>
          <a:xfrm>
            <a:off x="274320" y="2240280"/>
            <a:ext cx="4572000" cy="347472"/>
          </a:xfrm>
          <a:prstGeom prst="rect">
            <a:avLst/>
          </a:prstGeom>
          <a:noFill/>
        </p:spPr>
        <p:txBody>
          <a:bodyPr wrap="square">
            <a:spAutoFit/>
          </a:bodyPr>
          <a:lstStyle/>
          <a:p>
            <a:pPr algn="l"/>
            <a:r>
              <a:rPr sz="1400" b="1" i="0">
                <a:solidFill>
                  <a:srgbClr val="1A3A5C"/>
                </a:solidFill>
                <a:latin typeface="Calibri"/>
              </a:rPr>
              <a:t>Specific Objectives</a:t>
            </a:r>
          </a:p>
        </p:txBody>
      </p:sp>
      <p:sp>
        <p:nvSpPr>
          <p:cNvPr id="12" name="Rectangle 11"/>
          <p:cNvSpPr/>
          <p:nvPr/>
        </p:nvSpPr>
        <p:spPr>
          <a:xfrm>
            <a:off x="274320" y="2560320"/>
            <a:ext cx="11612880" cy="457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2697480"/>
            <a:ext cx="502920" cy="54864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2697480"/>
            <a:ext cx="502920" cy="548640"/>
          </a:xfrm>
          <a:prstGeom prst="rect">
            <a:avLst/>
          </a:prstGeom>
          <a:noFill/>
        </p:spPr>
        <p:txBody>
          <a:bodyPr wrap="square">
            <a:spAutoFit/>
          </a:bodyPr>
          <a:lstStyle/>
          <a:p>
            <a:pPr algn="ctr"/>
            <a:r>
              <a:rPr sz="1800" b="1" i="0">
                <a:solidFill>
                  <a:srgbClr val="FFFFFF"/>
                </a:solidFill>
                <a:latin typeface="Calibri"/>
              </a:rPr>
              <a:t>1</a:t>
            </a:r>
          </a:p>
        </p:txBody>
      </p:sp>
      <p:sp>
        <p:nvSpPr>
          <p:cNvPr id="15" name="TextBox 14"/>
          <p:cNvSpPr txBox="1"/>
          <p:nvPr/>
        </p:nvSpPr>
        <p:spPr>
          <a:xfrm>
            <a:off x="914400" y="2770632"/>
            <a:ext cx="10972800" cy="548640"/>
          </a:xfrm>
          <a:prstGeom prst="rect">
            <a:avLst/>
          </a:prstGeom>
          <a:noFill/>
        </p:spPr>
        <p:txBody>
          <a:bodyPr wrap="square">
            <a:spAutoFit/>
          </a:bodyPr>
          <a:lstStyle/>
          <a:p>
            <a:pPr algn="l"/>
            <a:r>
              <a:rPr sz="1300" b="0" i="0">
                <a:solidFill>
                  <a:srgbClr val="404040"/>
                </a:solidFill>
                <a:latin typeface="Calibri"/>
              </a:rPr>
              <a:t>Develop a Modbus RTU polling pipeline reading 9 electrical parameters from the CHINT DTSU666 meter at 10-second intervals.</a:t>
            </a:r>
          </a:p>
        </p:txBody>
      </p:sp>
      <p:sp>
        <p:nvSpPr>
          <p:cNvPr id="16" name="Rectangle 15"/>
          <p:cNvSpPr/>
          <p:nvPr/>
        </p:nvSpPr>
        <p:spPr>
          <a:xfrm>
            <a:off x="274320" y="3429000"/>
            <a:ext cx="502920" cy="54864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3429000"/>
            <a:ext cx="502920" cy="548640"/>
          </a:xfrm>
          <a:prstGeom prst="rect">
            <a:avLst/>
          </a:prstGeom>
          <a:noFill/>
        </p:spPr>
        <p:txBody>
          <a:bodyPr wrap="square">
            <a:spAutoFit/>
          </a:bodyPr>
          <a:lstStyle/>
          <a:p>
            <a:pPr algn="ctr"/>
            <a:r>
              <a:rPr sz="1800" b="1" i="0">
                <a:solidFill>
                  <a:srgbClr val="FFFFFF"/>
                </a:solidFill>
                <a:latin typeface="Calibri"/>
              </a:rPr>
              <a:t>2</a:t>
            </a:r>
          </a:p>
        </p:txBody>
      </p:sp>
      <p:sp>
        <p:nvSpPr>
          <p:cNvPr id="18" name="TextBox 17"/>
          <p:cNvSpPr txBox="1"/>
          <p:nvPr/>
        </p:nvSpPr>
        <p:spPr>
          <a:xfrm>
            <a:off x="914400" y="3502152"/>
            <a:ext cx="10972800" cy="548640"/>
          </a:xfrm>
          <a:prstGeom prst="rect">
            <a:avLst/>
          </a:prstGeom>
          <a:noFill/>
        </p:spPr>
        <p:txBody>
          <a:bodyPr wrap="square">
            <a:spAutoFit/>
          </a:bodyPr>
          <a:lstStyle/>
          <a:p>
            <a:pPr algn="l"/>
            <a:r>
              <a:rPr sz="1300" b="0" i="0">
                <a:solidFill>
                  <a:srgbClr val="404040"/>
                </a:solidFill>
                <a:latin typeface="Calibri"/>
              </a:rPr>
              <a:t>Collect a labelled dataset of ~160,000 samples across 8 CT bypass scenarios (normal + 7 bypass configurations).</a:t>
            </a:r>
          </a:p>
        </p:txBody>
      </p:sp>
      <p:sp>
        <p:nvSpPr>
          <p:cNvPr id="19" name="Rectangle 18"/>
          <p:cNvSpPr/>
          <p:nvPr/>
        </p:nvSpPr>
        <p:spPr>
          <a:xfrm>
            <a:off x="274320" y="4160520"/>
            <a:ext cx="502920" cy="54864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4160520"/>
            <a:ext cx="502920" cy="548640"/>
          </a:xfrm>
          <a:prstGeom prst="rect">
            <a:avLst/>
          </a:prstGeom>
          <a:noFill/>
        </p:spPr>
        <p:txBody>
          <a:bodyPr wrap="square">
            <a:spAutoFit/>
          </a:bodyPr>
          <a:lstStyle/>
          <a:p>
            <a:pPr algn="ctr"/>
            <a:r>
              <a:rPr sz="1800" b="1" i="0">
                <a:solidFill>
                  <a:srgbClr val="FFFFFF"/>
                </a:solidFill>
                <a:latin typeface="Calibri"/>
              </a:rPr>
              <a:t>3</a:t>
            </a:r>
          </a:p>
        </p:txBody>
      </p:sp>
      <p:sp>
        <p:nvSpPr>
          <p:cNvPr id="21" name="TextBox 20"/>
          <p:cNvSpPr txBox="1"/>
          <p:nvPr/>
        </p:nvSpPr>
        <p:spPr>
          <a:xfrm>
            <a:off x="914400" y="4233672"/>
            <a:ext cx="10972800" cy="548640"/>
          </a:xfrm>
          <a:prstGeom prst="rect">
            <a:avLst/>
          </a:prstGeom>
          <a:noFill/>
        </p:spPr>
        <p:txBody>
          <a:bodyPr wrap="square">
            <a:spAutoFit/>
          </a:bodyPr>
          <a:lstStyle/>
          <a:p>
            <a:pPr algn="l"/>
            <a:r>
              <a:rPr sz="1300" b="0" i="0">
                <a:solidFill>
                  <a:srgbClr val="404040"/>
                </a:solidFill>
                <a:latin typeface="Calibri"/>
              </a:rPr>
              <a:t>Engineer 20 features and train a VotingClassifier ensemble (Random Forest + XGBoost) for theft classification.</a:t>
            </a:r>
          </a:p>
        </p:txBody>
      </p:sp>
      <p:sp>
        <p:nvSpPr>
          <p:cNvPr id="22" name="Rectangle 21"/>
          <p:cNvSpPr/>
          <p:nvPr/>
        </p:nvSpPr>
        <p:spPr>
          <a:xfrm>
            <a:off x="274320" y="4892040"/>
            <a:ext cx="502920" cy="54864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4892040"/>
            <a:ext cx="502920" cy="548640"/>
          </a:xfrm>
          <a:prstGeom prst="rect">
            <a:avLst/>
          </a:prstGeom>
          <a:noFill/>
        </p:spPr>
        <p:txBody>
          <a:bodyPr wrap="square">
            <a:spAutoFit/>
          </a:bodyPr>
          <a:lstStyle/>
          <a:p>
            <a:pPr algn="ctr"/>
            <a:r>
              <a:rPr sz="1800" b="1" i="0">
                <a:solidFill>
                  <a:srgbClr val="FFFFFF"/>
                </a:solidFill>
                <a:latin typeface="Calibri"/>
              </a:rPr>
              <a:t>4</a:t>
            </a:r>
          </a:p>
        </p:txBody>
      </p:sp>
      <p:sp>
        <p:nvSpPr>
          <p:cNvPr id="24" name="TextBox 23"/>
          <p:cNvSpPr txBox="1"/>
          <p:nvPr/>
        </p:nvSpPr>
        <p:spPr>
          <a:xfrm>
            <a:off x="914400" y="4965192"/>
            <a:ext cx="10972800" cy="548640"/>
          </a:xfrm>
          <a:prstGeom prst="rect">
            <a:avLst/>
          </a:prstGeom>
          <a:noFill/>
        </p:spPr>
        <p:txBody>
          <a:bodyPr wrap="square">
            <a:spAutoFit/>
          </a:bodyPr>
          <a:lstStyle/>
          <a:p>
            <a:pPr algn="l"/>
            <a:r>
              <a:rPr sz="1300" b="0" i="0">
                <a:solidFill>
                  <a:srgbClr val="404040"/>
                </a:solidFill>
                <a:latin typeface="Calibri"/>
              </a:rPr>
              <a:t>Deploy the trained model on the Raspberry Pi for edge inference (&lt; 2 ms latency per classification cycle).</a:t>
            </a:r>
          </a:p>
        </p:txBody>
      </p:sp>
      <p:sp>
        <p:nvSpPr>
          <p:cNvPr id="25" name="Rectangle 24"/>
          <p:cNvSpPr/>
          <p:nvPr/>
        </p:nvSpPr>
        <p:spPr>
          <a:xfrm>
            <a:off x="274320" y="5623560"/>
            <a:ext cx="502920" cy="54864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5623560"/>
            <a:ext cx="502920" cy="548640"/>
          </a:xfrm>
          <a:prstGeom prst="rect">
            <a:avLst/>
          </a:prstGeom>
          <a:noFill/>
        </p:spPr>
        <p:txBody>
          <a:bodyPr wrap="square">
            <a:spAutoFit/>
          </a:bodyPr>
          <a:lstStyle/>
          <a:p>
            <a:pPr algn="ctr"/>
            <a:r>
              <a:rPr sz="1800" b="1" i="0">
                <a:solidFill>
                  <a:srgbClr val="FFFFFF"/>
                </a:solidFill>
                <a:latin typeface="Calibri"/>
              </a:rPr>
              <a:t>5</a:t>
            </a:r>
          </a:p>
        </p:txBody>
      </p:sp>
      <p:sp>
        <p:nvSpPr>
          <p:cNvPr id="27" name="TextBox 26"/>
          <p:cNvSpPr txBox="1"/>
          <p:nvPr/>
        </p:nvSpPr>
        <p:spPr>
          <a:xfrm>
            <a:off x="914400" y="5696712"/>
            <a:ext cx="10972800" cy="548640"/>
          </a:xfrm>
          <a:prstGeom prst="rect">
            <a:avLst/>
          </a:prstGeom>
          <a:noFill/>
        </p:spPr>
        <p:txBody>
          <a:bodyPr wrap="square">
            <a:spAutoFit/>
          </a:bodyPr>
          <a:lstStyle/>
          <a:p>
            <a:pPr algn="l"/>
            <a:r>
              <a:rPr sz="1300" b="0" i="0">
                <a:solidFill>
                  <a:srgbClr val="404040"/>
                </a:solidFill>
                <a:latin typeface="Calibri"/>
              </a:rPr>
              <a:t>Implement a cloud alert pipeline: Pi → Neon PostgreSQL → Streamlit dashboard, at zero recurring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Literature Review</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i="0">
                <a:solidFill>
                  <a:srgbClr val="C49A22"/>
                </a:solidFill>
                <a:latin typeface="Calibri"/>
              </a:rPr>
              <a:t>Prior Approaches to Electricity Theft Detection</a:t>
            </a:r>
          </a:p>
        </p:txBody>
      </p:sp>
      <p:sp>
        <p:nvSpPr>
          <p:cNvPr id="5" name="Rectangle 4"/>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8" name="TextBox 7"/>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6 / 17</a:t>
            </a:r>
          </a:p>
        </p:txBody>
      </p:sp>
      <p:sp>
        <p:nvSpPr>
          <p:cNvPr id="9" name="Rectangle 8"/>
          <p:cNvSpPr/>
          <p:nvPr/>
        </p:nvSpPr>
        <p:spPr>
          <a:xfrm>
            <a:off x="320040" y="1417320"/>
            <a:ext cx="2651760" cy="20116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490472"/>
            <a:ext cx="2468880" cy="411480"/>
          </a:xfrm>
          <a:prstGeom prst="rect">
            <a:avLst/>
          </a:prstGeom>
          <a:noFill/>
        </p:spPr>
        <p:txBody>
          <a:bodyPr wrap="square">
            <a:spAutoFit/>
          </a:bodyPr>
          <a:lstStyle/>
          <a:p>
            <a:pPr algn="l"/>
            <a:r>
              <a:rPr sz="1300" b="1" i="0">
                <a:solidFill>
                  <a:srgbClr val="C49A22"/>
                </a:solidFill>
                <a:latin typeface="Calibri"/>
              </a:rPr>
              <a:t>Nagi et al. (2010)</a:t>
            </a:r>
          </a:p>
        </p:txBody>
      </p:sp>
      <p:sp>
        <p:nvSpPr>
          <p:cNvPr id="11" name="TextBox 10"/>
          <p:cNvSpPr txBox="1"/>
          <p:nvPr/>
        </p:nvSpPr>
        <p:spPr>
          <a:xfrm>
            <a:off x="411480" y="1920240"/>
            <a:ext cx="2468880" cy="1371600"/>
          </a:xfrm>
          <a:prstGeom prst="rect">
            <a:avLst/>
          </a:prstGeom>
          <a:noFill/>
        </p:spPr>
        <p:txBody>
          <a:bodyPr wrap="square">
            <a:spAutoFit/>
          </a:bodyPr>
          <a:lstStyle/>
          <a:p>
            <a:pPr algn="l"/>
            <a:r>
              <a:rPr sz="1200" b="0" i="0">
                <a:solidFill>
                  <a:srgbClr val="FFFFFF"/>
                </a:solidFill>
                <a:latin typeface="Calibri"/>
              </a:rPr>
              <a:t>SVM on AMI consumption profiles
→ 93% accuracy (Malaysia)</a:t>
            </a:r>
          </a:p>
        </p:txBody>
      </p:sp>
      <p:sp>
        <p:nvSpPr>
          <p:cNvPr id="12" name="Rectangle 11"/>
          <p:cNvSpPr/>
          <p:nvPr/>
        </p:nvSpPr>
        <p:spPr>
          <a:xfrm>
            <a:off x="3291840" y="1417320"/>
            <a:ext cx="2651760" cy="20116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490472"/>
            <a:ext cx="2468880" cy="411480"/>
          </a:xfrm>
          <a:prstGeom prst="rect">
            <a:avLst/>
          </a:prstGeom>
          <a:noFill/>
        </p:spPr>
        <p:txBody>
          <a:bodyPr wrap="square">
            <a:spAutoFit/>
          </a:bodyPr>
          <a:lstStyle/>
          <a:p>
            <a:pPr algn="l"/>
            <a:r>
              <a:rPr sz="1300" b="1" i="0">
                <a:solidFill>
                  <a:srgbClr val="C49A22"/>
                </a:solidFill>
                <a:latin typeface="Calibri"/>
              </a:rPr>
              <a:t>Jokar et al. (2016)</a:t>
            </a:r>
          </a:p>
        </p:txBody>
      </p:sp>
      <p:sp>
        <p:nvSpPr>
          <p:cNvPr id="14" name="TextBox 13"/>
          <p:cNvSpPr txBox="1"/>
          <p:nvPr/>
        </p:nvSpPr>
        <p:spPr>
          <a:xfrm>
            <a:off x="3383280" y="1920240"/>
            <a:ext cx="2468880" cy="1371600"/>
          </a:xfrm>
          <a:prstGeom prst="rect">
            <a:avLst/>
          </a:prstGeom>
          <a:noFill/>
        </p:spPr>
        <p:txBody>
          <a:bodyPr wrap="square">
            <a:spAutoFit/>
          </a:bodyPr>
          <a:lstStyle/>
          <a:p>
            <a:pPr algn="l"/>
            <a:r>
              <a:rPr sz="1200" b="0" i="0">
                <a:solidFill>
                  <a:srgbClr val="FFFFFF"/>
                </a:solidFill>
                <a:latin typeface="Calibri"/>
              </a:rPr>
              <a:t>CT bypass via phase current imbalance threshold
→ 97% for single-phase bypass</a:t>
            </a:r>
          </a:p>
        </p:txBody>
      </p:sp>
      <p:sp>
        <p:nvSpPr>
          <p:cNvPr id="15" name="Rectangle 14"/>
          <p:cNvSpPr/>
          <p:nvPr/>
        </p:nvSpPr>
        <p:spPr>
          <a:xfrm>
            <a:off x="6263640" y="1417320"/>
            <a:ext cx="2651760" cy="20116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490472"/>
            <a:ext cx="2468880" cy="411480"/>
          </a:xfrm>
          <a:prstGeom prst="rect">
            <a:avLst/>
          </a:prstGeom>
          <a:noFill/>
        </p:spPr>
        <p:txBody>
          <a:bodyPr wrap="square">
            <a:spAutoFit/>
          </a:bodyPr>
          <a:lstStyle/>
          <a:p>
            <a:pPr algn="l"/>
            <a:r>
              <a:rPr sz="1300" b="1" i="0">
                <a:solidFill>
                  <a:srgbClr val="C49A22"/>
                </a:solidFill>
                <a:latin typeface="Calibri"/>
              </a:rPr>
              <a:t>Buzau et al. (2018)</a:t>
            </a:r>
          </a:p>
        </p:txBody>
      </p:sp>
      <p:sp>
        <p:nvSpPr>
          <p:cNvPr id="17" name="TextBox 16"/>
          <p:cNvSpPr txBox="1"/>
          <p:nvPr/>
        </p:nvSpPr>
        <p:spPr>
          <a:xfrm>
            <a:off x="6355080" y="1920240"/>
            <a:ext cx="2468880" cy="1371600"/>
          </a:xfrm>
          <a:prstGeom prst="rect">
            <a:avLst/>
          </a:prstGeom>
          <a:noFill/>
        </p:spPr>
        <p:txBody>
          <a:bodyPr wrap="square">
            <a:spAutoFit/>
          </a:bodyPr>
          <a:lstStyle/>
          <a:p>
            <a:pPr algn="l"/>
            <a:r>
              <a:rPr sz="1200" b="0" i="0">
                <a:solidFill>
                  <a:srgbClr val="FFFFFF"/>
                </a:solidFill>
                <a:latin typeface="Calibri"/>
              </a:rPr>
              <a:t>Comparison: RF, GBM, SVM, DT on Spanish utility
→ AUC 0.87–0.95 for ensemble methods</a:t>
            </a:r>
          </a:p>
        </p:txBody>
      </p:sp>
      <p:sp>
        <p:nvSpPr>
          <p:cNvPr id="18" name="Rectangle 17"/>
          <p:cNvSpPr/>
          <p:nvPr/>
        </p:nvSpPr>
        <p:spPr>
          <a:xfrm>
            <a:off x="9235440" y="1417320"/>
            <a:ext cx="2651760" cy="20116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1490472"/>
            <a:ext cx="2468880" cy="411480"/>
          </a:xfrm>
          <a:prstGeom prst="rect">
            <a:avLst/>
          </a:prstGeom>
          <a:noFill/>
        </p:spPr>
        <p:txBody>
          <a:bodyPr wrap="square">
            <a:spAutoFit/>
          </a:bodyPr>
          <a:lstStyle/>
          <a:p>
            <a:pPr algn="l"/>
            <a:r>
              <a:rPr sz="1300" b="1" i="0">
                <a:solidFill>
                  <a:srgbClr val="C49A22"/>
                </a:solidFill>
                <a:latin typeface="Calibri"/>
              </a:rPr>
              <a:t>Zheng et al. (2017)</a:t>
            </a:r>
          </a:p>
        </p:txBody>
      </p:sp>
      <p:sp>
        <p:nvSpPr>
          <p:cNvPr id="20" name="TextBox 19"/>
          <p:cNvSpPr txBox="1"/>
          <p:nvPr/>
        </p:nvSpPr>
        <p:spPr>
          <a:xfrm>
            <a:off x="9326880" y="1920240"/>
            <a:ext cx="2468880" cy="1371600"/>
          </a:xfrm>
          <a:prstGeom prst="rect">
            <a:avLst/>
          </a:prstGeom>
          <a:noFill/>
        </p:spPr>
        <p:txBody>
          <a:bodyPr wrap="square">
            <a:spAutoFit/>
          </a:bodyPr>
          <a:lstStyle/>
          <a:p>
            <a:pPr algn="l"/>
            <a:r>
              <a:rPr sz="1200" b="0" i="0">
                <a:solidFill>
                  <a:srgbClr val="FFFFFF"/>
                </a:solidFill>
                <a:latin typeface="Calibri"/>
              </a:rPr>
              <a:t>CNN on time-series consumption data
→ 82.8% F1 (China State Grid)</a:t>
            </a:r>
          </a:p>
        </p:txBody>
      </p:sp>
      <p:sp>
        <p:nvSpPr>
          <p:cNvPr id="21" name="Rectangle 20"/>
          <p:cNvSpPr/>
          <p:nvPr/>
        </p:nvSpPr>
        <p:spPr>
          <a:xfrm>
            <a:off x="320040" y="3566160"/>
            <a:ext cx="11521440" cy="4572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3703320"/>
            <a:ext cx="11521440" cy="365760"/>
          </a:xfrm>
          <a:prstGeom prst="rect">
            <a:avLst/>
          </a:prstGeom>
          <a:noFill/>
        </p:spPr>
        <p:txBody>
          <a:bodyPr wrap="square">
            <a:spAutoFit/>
          </a:bodyPr>
          <a:lstStyle/>
          <a:p>
            <a:pPr algn="l"/>
            <a:r>
              <a:rPr sz="1400" b="1" i="0">
                <a:solidFill>
                  <a:srgbClr val="1A3A5C"/>
                </a:solidFill>
                <a:latin typeface="Calibri"/>
              </a:rPr>
              <a:t>Common limitations in prior work:</a:t>
            </a:r>
          </a:p>
        </p:txBody>
      </p:sp>
      <p:sp>
        <p:nvSpPr>
          <p:cNvPr id="23" name="TextBox 22"/>
          <p:cNvSpPr txBox="1"/>
          <p:nvPr/>
        </p:nvSpPr>
        <p:spPr>
          <a:xfrm>
            <a:off x="320040" y="4114800"/>
            <a:ext cx="11521440" cy="1280160"/>
          </a:xfrm>
          <a:prstGeom prst="rect">
            <a:avLst/>
          </a:prstGeom>
          <a:noFill/>
        </p:spPr>
        <p:txBody>
          <a:bodyPr wrap="square">
            <a:spAutoFit/>
          </a:bodyPr>
          <a:lstStyle/>
          <a:p>
            <a:pPr>
              <a:spcBef>
                <a:spcPts val="400"/>
              </a:spcBef>
            </a:pPr>
            <a:r>
              <a:rPr sz="1300">
                <a:solidFill>
                  <a:srgbClr val="404040"/>
                </a:solidFill>
                <a:latin typeface="Calibri"/>
              </a:rPr>
              <a:t>▪ Most systems use 15-minute kWh AMI data — cannot detect within-window partial bypass</a:t>
            </a:r>
          </a:p>
          <a:p>
            <a:pPr>
              <a:spcBef>
                <a:spcPts val="400"/>
              </a:spcBef>
            </a:pPr>
            <a:r>
              <a:rPr sz="1300">
                <a:solidFill>
                  <a:srgbClr val="404040"/>
                </a:solidFill>
                <a:latin typeface="Calibri"/>
              </a:rPr>
              <a:t>▪ Threshold methods fail under natural load imbalance (common in Ugandan informal settlements)</a:t>
            </a:r>
          </a:p>
          <a:p>
            <a:pPr>
              <a:spcBef>
                <a:spcPts val="400"/>
              </a:spcBef>
            </a:pPr>
            <a:r>
              <a:rPr sz="1300">
                <a:solidFill>
                  <a:srgbClr val="404040"/>
                </a:solidFill>
                <a:latin typeface="Calibri"/>
              </a:rPr>
              <a:t>▪ Deep learning (CNN) too resource-heavy for Raspberry Pi edge deployment</a:t>
            </a:r>
          </a:p>
          <a:p>
            <a:pPr>
              <a:spcBef>
                <a:spcPts val="400"/>
              </a:spcBef>
            </a:pPr>
            <a:r>
              <a:rPr sz="1300">
                <a:solidFill>
                  <a:srgbClr val="404040"/>
                </a:solidFill>
                <a:latin typeface="Calibri"/>
              </a:rPr>
              <a:t>▪ No published labelled dataset for CT bypass on Modbus RTU meters in Sub-Saharan Africa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Literature Review</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i="0">
                <a:solidFill>
                  <a:srgbClr val="C49A22"/>
                </a:solidFill>
                <a:latin typeface="Calibri"/>
              </a:rPr>
              <a:t>Research Gaps — What This Project Covers</a:t>
            </a:r>
          </a:p>
        </p:txBody>
      </p:sp>
      <p:sp>
        <p:nvSpPr>
          <p:cNvPr id="5" name="Rectangle 4"/>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8" name="TextBox 7"/>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7 / 17</a:t>
            </a:r>
          </a:p>
        </p:txBody>
      </p:sp>
      <p:sp>
        <p:nvSpPr>
          <p:cNvPr id="9" name="Rectangle 8"/>
          <p:cNvSpPr/>
          <p:nvPr/>
        </p:nvSpPr>
        <p:spPr>
          <a:xfrm>
            <a:off x="365760" y="1417320"/>
            <a:ext cx="5394960" cy="14173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508760"/>
            <a:ext cx="1097280" cy="365760"/>
          </a:xfrm>
          <a:prstGeom prst="rect">
            <a:avLst/>
          </a:prstGeom>
          <a:noFill/>
        </p:spPr>
        <p:txBody>
          <a:bodyPr wrap="square">
            <a:spAutoFit/>
          </a:bodyPr>
          <a:lstStyle/>
          <a:p>
            <a:pPr algn="l"/>
            <a:r>
              <a:rPr sz="1300" b="1" i="0">
                <a:solidFill>
                  <a:srgbClr val="C49A22"/>
                </a:solidFill>
                <a:latin typeface="Calibri"/>
              </a:rPr>
              <a:t>Gap 1</a:t>
            </a:r>
          </a:p>
        </p:txBody>
      </p:sp>
      <p:sp>
        <p:nvSpPr>
          <p:cNvPr id="11" name="TextBox 10"/>
          <p:cNvSpPr txBox="1"/>
          <p:nvPr/>
        </p:nvSpPr>
        <p:spPr>
          <a:xfrm>
            <a:off x="502920" y="1874520"/>
            <a:ext cx="5120640" cy="914400"/>
          </a:xfrm>
          <a:prstGeom prst="rect">
            <a:avLst/>
          </a:prstGeom>
          <a:noFill/>
        </p:spPr>
        <p:txBody>
          <a:bodyPr wrap="square">
            <a:spAutoFit/>
          </a:bodyPr>
          <a:lstStyle/>
          <a:p>
            <a:pPr algn="l"/>
            <a:r>
              <a:rPr sz="1300" b="0" i="0">
                <a:solidFill>
                  <a:srgbClr val="FFFFFF"/>
                </a:solidFill>
                <a:latin typeface="Calibri"/>
              </a:rPr>
              <a:t>No system targets CT bypass on CHINT DTSU666 via Modbus RTU at 10-second resolution</a:t>
            </a:r>
          </a:p>
        </p:txBody>
      </p:sp>
      <p:sp>
        <p:nvSpPr>
          <p:cNvPr id="12" name="Rectangle 11"/>
          <p:cNvSpPr/>
          <p:nvPr/>
        </p:nvSpPr>
        <p:spPr>
          <a:xfrm>
            <a:off x="6035040" y="1417320"/>
            <a:ext cx="5394960" cy="14173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72200" y="1508760"/>
            <a:ext cx="1097280" cy="365760"/>
          </a:xfrm>
          <a:prstGeom prst="rect">
            <a:avLst/>
          </a:prstGeom>
          <a:noFill/>
        </p:spPr>
        <p:txBody>
          <a:bodyPr wrap="square">
            <a:spAutoFit/>
          </a:bodyPr>
          <a:lstStyle/>
          <a:p>
            <a:pPr algn="l"/>
            <a:r>
              <a:rPr sz="1300" b="1" i="0">
                <a:solidFill>
                  <a:srgbClr val="C49A22"/>
                </a:solidFill>
                <a:latin typeface="Calibri"/>
              </a:rPr>
              <a:t>Gap 2</a:t>
            </a:r>
          </a:p>
        </p:txBody>
      </p:sp>
      <p:sp>
        <p:nvSpPr>
          <p:cNvPr id="14" name="TextBox 13"/>
          <p:cNvSpPr txBox="1"/>
          <p:nvPr/>
        </p:nvSpPr>
        <p:spPr>
          <a:xfrm>
            <a:off x="6172200" y="1874520"/>
            <a:ext cx="5120640" cy="914400"/>
          </a:xfrm>
          <a:prstGeom prst="rect">
            <a:avLst/>
          </a:prstGeom>
          <a:noFill/>
        </p:spPr>
        <p:txBody>
          <a:bodyPr wrap="square">
            <a:spAutoFit/>
          </a:bodyPr>
          <a:lstStyle/>
          <a:p>
            <a:pPr algn="l"/>
            <a:r>
              <a:rPr sz="1300" b="0" i="0">
                <a:solidFill>
                  <a:srgbClr val="FFFFFF"/>
                </a:solidFill>
                <a:latin typeface="Calibri"/>
              </a:rPr>
              <a:t>Published ML systems use 15-min kWh intervals, not 9-parameter electrical signatures</a:t>
            </a:r>
          </a:p>
        </p:txBody>
      </p:sp>
      <p:sp>
        <p:nvSpPr>
          <p:cNvPr id="15" name="Rectangle 14"/>
          <p:cNvSpPr/>
          <p:nvPr/>
        </p:nvSpPr>
        <p:spPr>
          <a:xfrm>
            <a:off x="365760" y="2971800"/>
            <a:ext cx="5394960" cy="14173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063240"/>
            <a:ext cx="1097280" cy="365760"/>
          </a:xfrm>
          <a:prstGeom prst="rect">
            <a:avLst/>
          </a:prstGeom>
          <a:noFill/>
        </p:spPr>
        <p:txBody>
          <a:bodyPr wrap="square">
            <a:spAutoFit/>
          </a:bodyPr>
          <a:lstStyle/>
          <a:p>
            <a:pPr algn="l"/>
            <a:r>
              <a:rPr sz="1300" b="1" i="0">
                <a:solidFill>
                  <a:srgbClr val="C49A22"/>
                </a:solidFill>
                <a:latin typeface="Calibri"/>
              </a:rPr>
              <a:t>Gap 3</a:t>
            </a:r>
          </a:p>
        </p:txBody>
      </p:sp>
      <p:sp>
        <p:nvSpPr>
          <p:cNvPr id="17" name="TextBox 16"/>
          <p:cNvSpPr txBox="1"/>
          <p:nvPr/>
        </p:nvSpPr>
        <p:spPr>
          <a:xfrm>
            <a:off x="502920" y="3429000"/>
            <a:ext cx="5120640" cy="914400"/>
          </a:xfrm>
          <a:prstGeom prst="rect">
            <a:avLst/>
          </a:prstGeom>
          <a:noFill/>
        </p:spPr>
        <p:txBody>
          <a:bodyPr wrap="square">
            <a:spAutoFit/>
          </a:bodyPr>
          <a:lstStyle/>
          <a:p>
            <a:pPr algn="l"/>
            <a:r>
              <a:rPr sz="1300" b="0" i="0">
                <a:solidFill>
                  <a:srgbClr val="FFFFFF"/>
                </a:solidFill>
                <a:latin typeface="Calibri"/>
              </a:rPr>
              <a:t>No published system demonstrates edge inference (Raspberry Pi) for CT bypass detection</a:t>
            </a:r>
          </a:p>
        </p:txBody>
      </p:sp>
      <p:sp>
        <p:nvSpPr>
          <p:cNvPr id="18" name="Rectangle 17"/>
          <p:cNvSpPr/>
          <p:nvPr/>
        </p:nvSpPr>
        <p:spPr>
          <a:xfrm>
            <a:off x="6035040" y="2971800"/>
            <a:ext cx="5394960" cy="14173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2200" y="3063240"/>
            <a:ext cx="1097280" cy="365760"/>
          </a:xfrm>
          <a:prstGeom prst="rect">
            <a:avLst/>
          </a:prstGeom>
          <a:noFill/>
        </p:spPr>
        <p:txBody>
          <a:bodyPr wrap="square">
            <a:spAutoFit/>
          </a:bodyPr>
          <a:lstStyle/>
          <a:p>
            <a:pPr algn="l"/>
            <a:r>
              <a:rPr sz="1300" b="1" i="0">
                <a:solidFill>
                  <a:srgbClr val="C49A22"/>
                </a:solidFill>
                <a:latin typeface="Calibri"/>
              </a:rPr>
              <a:t>Gap 4</a:t>
            </a:r>
          </a:p>
        </p:txBody>
      </p:sp>
      <p:sp>
        <p:nvSpPr>
          <p:cNvPr id="20" name="TextBox 19"/>
          <p:cNvSpPr txBox="1"/>
          <p:nvPr/>
        </p:nvSpPr>
        <p:spPr>
          <a:xfrm>
            <a:off x="6172200" y="3429000"/>
            <a:ext cx="5120640" cy="914400"/>
          </a:xfrm>
          <a:prstGeom prst="rect">
            <a:avLst/>
          </a:prstGeom>
          <a:noFill/>
        </p:spPr>
        <p:txBody>
          <a:bodyPr wrap="square">
            <a:spAutoFit/>
          </a:bodyPr>
          <a:lstStyle/>
          <a:p>
            <a:pPr algn="l"/>
            <a:r>
              <a:rPr sz="1300" b="0" i="0">
                <a:solidFill>
                  <a:srgbClr val="FFFFFF"/>
                </a:solidFill>
                <a:latin typeface="Calibri"/>
              </a:rPr>
              <a:t>No publicly available labelled dataset for 8 CT bypass scenarios on 3-phase Modbus meters</a:t>
            </a:r>
          </a:p>
        </p:txBody>
      </p:sp>
      <p:sp>
        <p:nvSpPr>
          <p:cNvPr id="21" name="Rectangle 20"/>
          <p:cNvSpPr/>
          <p:nvPr/>
        </p:nvSpPr>
        <p:spPr>
          <a:xfrm>
            <a:off x="365760" y="4572000"/>
            <a:ext cx="11430000"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4709160"/>
            <a:ext cx="11430000" cy="1417320"/>
          </a:xfrm>
          <a:prstGeom prst="rect">
            <a:avLst/>
          </a:prstGeom>
          <a:solidFill>
            <a:srgbClr val="1E7E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4754880"/>
            <a:ext cx="10972800" cy="365760"/>
          </a:xfrm>
          <a:prstGeom prst="rect">
            <a:avLst/>
          </a:prstGeom>
          <a:noFill/>
        </p:spPr>
        <p:txBody>
          <a:bodyPr wrap="square">
            <a:spAutoFit/>
          </a:bodyPr>
          <a:lstStyle/>
          <a:p>
            <a:pPr algn="l"/>
            <a:r>
              <a:rPr sz="1400" b="1" i="0">
                <a:solidFill>
                  <a:srgbClr val="FFFFFF"/>
                </a:solidFill>
                <a:latin typeface="Calibri"/>
              </a:rPr>
              <a:t>This project fills all four gaps:</a:t>
            </a:r>
          </a:p>
        </p:txBody>
      </p:sp>
      <p:sp>
        <p:nvSpPr>
          <p:cNvPr id="24" name="TextBox 23"/>
          <p:cNvSpPr txBox="1"/>
          <p:nvPr/>
        </p:nvSpPr>
        <p:spPr>
          <a:xfrm>
            <a:off x="502920" y="5120640"/>
            <a:ext cx="10972800" cy="822960"/>
          </a:xfrm>
          <a:prstGeom prst="rect">
            <a:avLst/>
          </a:prstGeom>
          <a:noFill/>
        </p:spPr>
        <p:txBody>
          <a:bodyPr wrap="square">
            <a:spAutoFit/>
          </a:bodyPr>
          <a:lstStyle/>
          <a:p>
            <a:pPr algn="l"/>
            <a:r>
              <a:rPr sz="1300" b="0" i="0">
                <a:solidFill>
                  <a:srgbClr val="FFFFFF"/>
                </a:solidFill>
                <a:latin typeface="Calibri"/>
              </a:rPr>
              <a:t>CHINT DTSU666 via Modbus RTU  ·  9-parameter 10-second readings  ·  VotingClassifier on Raspberry Pi (&lt; 2 ms)  ·  160,427-sample labelled dataset across 8 scenarios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Methodology</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i="0">
                <a:solidFill>
                  <a:srgbClr val="C49A22"/>
                </a:solidFill>
                <a:latin typeface="Calibri"/>
              </a:rPr>
              <a:t>System Architecture — Three Layers</a:t>
            </a:r>
          </a:p>
        </p:txBody>
      </p:sp>
      <p:sp>
        <p:nvSpPr>
          <p:cNvPr id="5" name="Rectangle 4"/>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8" name="TextBox 7"/>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8 / 17</a:t>
            </a:r>
          </a:p>
        </p:txBody>
      </p:sp>
      <p:sp>
        <p:nvSpPr>
          <p:cNvPr id="9" name="Rectangle 8"/>
          <p:cNvSpPr/>
          <p:nvPr/>
        </p:nvSpPr>
        <p:spPr>
          <a:xfrm>
            <a:off x="320040" y="1325880"/>
            <a:ext cx="3566160" cy="438912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371600"/>
            <a:ext cx="3291840" cy="502920"/>
          </a:xfrm>
          <a:prstGeom prst="rect">
            <a:avLst/>
          </a:prstGeom>
          <a:noFill/>
        </p:spPr>
        <p:txBody>
          <a:bodyPr wrap="square">
            <a:spAutoFit/>
          </a:bodyPr>
          <a:lstStyle/>
          <a:p>
            <a:pPr algn="l"/>
            <a:r>
              <a:rPr sz="1300" b="1" i="0">
                <a:solidFill>
                  <a:srgbClr val="C49A22"/>
                </a:solidFill>
                <a:latin typeface="Calibri"/>
              </a:rPr>
              <a:t>LAYER 1 — FIELD (Raspberry Pi)</a:t>
            </a:r>
          </a:p>
        </p:txBody>
      </p:sp>
      <p:sp>
        <p:nvSpPr>
          <p:cNvPr id="11" name="Rectangle 10"/>
          <p:cNvSpPr/>
          <p:nvPr/>
        </p:nvSpPr>
        <p:spPr>
          <a:xfrm>
            <a:off x="457200" y="1920240"/>
            <a:ext cx="3291840" cy="36576"/>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057400"/>
            <a:ext cx="3291840" cy="3383280"/>
          </a:xfrm>
          <a:prstGeom prst="rect">
            <a:avLst/>
          </a:prstGeom>
          <a:noFill/>
        </p:spPr>
        <p:txBody>
          <a:bodyPr wrap="square">
            <a:spAutoFit/>
          </a:bodyPr>
          <a:lstStyle/>
          <a:p>
            <a:pPr>
              <a:spcBef>
                <a:spcPts val="400"/>
              </a:spcBef>
            </a:pPr>
            <a:r>
              <a:rPr sz="1250">
                <a:solidFill>
                  <a:srgbClr val="FFFFFF"/>
                </a:solidFill>
                <a:latin typeface="Calibri"/>
              </a:rPr>
              <a:t>▪ CHINT DTSU666 3-phase meter (Modbus RTU @ 9600 baud)</a:t>
            </a:r>
          </a:p>
          <a:p>
            <a:pPr>
              <a:spcBef>
                <a:spcPts val="400"/>
              </a:spcBef>
            </a:pPr>
            <a:r>
              <a:rPr sz="1250">
                <a:solidFill>
                  <a:srgbClr val="FFFFFF"/>
                </a:solidFill>
                <a:latin typeface="Calibri"/>
              </a:rPr>
              <a:t>▪ CH341 USB→RS485 adapter</a:t>
            </a:r>
          </a:p>
          <a:p>
            <a:pPr>
              <a:spcBef>
                <a:spcPts val="400"/>
              </a:spcBef>
            </a:pPr>
            <a:r>
              <a:rPr sz="1250">
                <a:solidFill>
                  <a:srgbClr val="FFFFFF"/>
                </a:solidFill>
                <a:latin typeface="Calibri"/>
              </a:rPr>
              <a:t>▪ meter.service: polls every 10s → aggregates to 15-min CSV</a:t>
            </a:r>
          </a:p>
          <a:p>
            <a:pPr>
              <a:spcBef>
                <a:spcPts val="400"/>
              </a:spcBef>
            </a:pPr>
            <a:r>
              <a:rPr sz="1250">
                <a:solidFill>
                  <a:srgbClr val="FFFFFF"/>
                </a:solidFill>
                <a:latin typeface="Calibri"/>
              </a:rPr>
              <a:t>▪ theft-detector.service: reads CSV → 20 features → inference → alert</a:t>
            </a:r>
          </a:p>
        </p:txBody>
      </p:sp>
      <p:sp>
        <p:nvSpPr>
          <p:cNvPr id="13" name="Rectangle 12"/>
          <p:cNvSpPr/>
          <p:nvPr/>
        </p:nvSpPr>
        <p:spPr>
          <a:xfrm>
            <a:off x="4206240" y="1325880"/>
            <a:ext cx="3566160" cy="43891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1371600"/>
            <a:ext cx="3291840" cy="502920"/>
          </a:xfrm>
          <a:prstGeom prst="rect">
            <a:avLst/>
          </a:prstGeom>
          <a:noFill/>
        </p:spPr>
        <p:txBody>
          <a:bodyPr wrap="square">
            <a:spAutoFit/>
          </a:bodyPr>
          <a:lstStyle/>
          <a:p>
            <a:pPr algn="l"/>
            <a:r>
              <a:rPr sz="1300" b="1" i="0">
                <a:solidFill>
                  <a:srgbClr val="C49A22"/>
                </a:solidFill>
                <a:latin typeface="Calibri"/>
              </a:rPr>
              <a:t>LAYER 2 — CLOUD BACKEND (Neon PostgreSQL)</a:t>
            </a:r>
          </a:p>
        </p:txBody>
      </p:sp>
      <p:sp>
        <p:nvSpPr>
          <p:cNvPr id="15" name="Rectangle 14"/>
          <p:cNvSpPr/>
          <p:nvPr/>
        </p:nvSpPr>
        <p:spPr>
          <a:xfrm>
            <a:off x="4343400" y="1920240"/>
            <a:ext cx="3291840" cy="36576"/>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2057400"/>
            <a:ext cx="3291840" cy="3383280"/>
          </a:xfrm>
          <a:prstGeom prst="rect">
            <a:avLst/>
          </a:prstGeom>
          <a:noFill/>
        </p:spPr>
        <p:txBody>
          <a:bodyPr wrap="square">
            <a:spAutoFit/>
          </a:bodyPr>
          <a:lstStyle/>
          <a:p>
            <a:pPr>
              <a:spcBef>
                <a:spcPts val="400"/>
              </a:spcBef>
            </a:pPr>
            <a:r>
              <a:rPr sz="1250">
                <a:solidFill>
                  <a:srgbClr val="FFFFFF"/>
                </a:solidFill>
                <a:latin typeface="Calibri"/>
              </a:rPr>
              <a:t>▪ Free-tier PostgreSQL (always reachable — no inactivity pause)</a:t>
            </a:r>
          </a:p>
          <a:p>
            <a:pPr>
              <a:spcBef>
                <a:spcPts val="400"/>
              </a:spcBef>
            </a:pPr>
            <a:r>
              <a:rPr sz="1250">
                <a:solidFill>
                  <a:srgbClr val="FFFFFF"/>
                </a:solidFill>
                <a:latin typeface="Calibri"/>
              </a:rPr>
              <a:t>▪ alerts table: prediction, probability, phase readings</a:t>
            </a:r>
          </a:p>
          <a:p>
            <a:pPr>
              <a:spcBef>
                <a:spcPts val="400"/>
              </a:spcBef>
            </a:pPr>
            <a:r>
              <a:rPr sz="1250">
                <a:solidFill>
                  <a:srgbClr val="FFFFFF"/>
                </a:solidFill>
                <a:latin typeface="Calibri"/>
              </a:rPr>
              <a:t>▪ Pi pushes via psycopg2 only on theft detection (rare)</a:t>
            </a:r>
          </a:p>
          <a:p>
            <a:pPr>
              <a:spcBef>
                <a:spcPts val="400"/>
              </a:spcBef>
            </a:pPr>
            <a:r>
              <a:rPr sz="1250">
                <a:solidFill>
                  <a:srgbClr val="FFFFFF"/>
                </a:solidFill>
                <a:latin typeface="Calibri"/>
              </a:rPr>
              <a:t>▪ Dashboard reads independently — Pi can be offline</a:t>
            </a:r>
          </a:p>
        </p:txBody>
      </p:sp>
      <p:sp>
        <p:nvSpPr>
          <p:cNvPr id="17" name="Rectangle 16"/>
          <p:cNvSpPr/>
          <p:nvPr/>
        </p:nvSpPr>
        <p:spPr>
          <a:xfrm>
            <a:off x="8092440" y="1325880"/>
            <a:ext cx="3566160" cy="43891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1371600"/>
            <a:ext cx="3291840" cy="502920"/>
          </a:xfrm>
          <a:prstGeom prst="rect">
            <a:avLst/>
          </a:prstGeom>
          <a:noFill/>
        </p:spPr>
        <p:txBody>
          <a:bodyPr wrap="square">
            <a:spAutoFit/>
          </a:bodyPr>
          <a:lstStyle/>
          <a:p>
            <a:pPr algn="l"/>
            <a:r>
              <a:rPr sz="1300" b="1" i="0">
                <a:solidFill>
                  <a:srgbClr val="C49A22"/>
                </a:solidFill>
                <a:latin typeface="Calibri"/>
              </a:rPr>
              <a:t>LAYER 3 — PRESENTATION (Streamlit Cloud)</a:t>
            </a:r>
          </a:p>
        </p:txBody>
      </p:sp>
      <p:sp>
        <p:nvSpPr>
          <p:cNvPr id="19" name="Rectangle 18"/>
          <p:cNvSpPr/>
          <p:nvPr/>
        </p:nvSpPr>
        <p:spPr>
          <a:xfrm>
            <a:off x="8229600" y="1920240"/>
            <a:ext cx="3291840" cy="36576"/>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2057400"/>
            <a:ext cx="3291840" cy="3383280"/>
          </a:xfrm>
          <a:prstGeom prst="rect">
            <a:avLst/>
          </a:prstGeom>
          <a:noFill/>
        </p:spPr>
        <p:txBody>
          <a:bodyPr wrap="square">
            <a:spAutoFit/>
          </a:bodyPr>
          <a:lstStyle/>
          <a:p>
            <a:pPr>
              <a:spcBef>
                <a:spcPts val="400"/>
              </a:spcBef>
            </a:pPr>
            <a:r>
              <a:rPr sz="1250">
                <a:solidFill>
                  <a:srgbClr val="FFFFFF"/>
                </a:solidFill>
                <a:latin typeface="Calibri"/>
              </a:rPr>
              <a:t>▪ Streamlit Community Cloud (free, GitHub-connected)</a:t>
            </a:r>
          </a:p>
          <a:p>
            <a:pPr>
              <a:spcBef>
                <a:spcPts val="400"/>
              </a:spcBef>
            </a:pPr>
            <a:r>
              <a:rPr sz="1250">
                <a:solidFill>
                  <a:srgbClr val="FFFFFF"/>
                </a:solidFill>
                <a:latin typeface="Calibri"/>
              </a:rPr>
              <a:t>▪ Live readings: V, I, P per phase</a:t>
            </a:r>
          </a:p>
          <a:p>
            <a:pPr>
              <a:spcBef>
                <a:spcPts val="400"/>
              </a:spcBef>
            </a:pPr>
            <a:r>
              <a:rPr sz="1250">
                <a:solidFill>
                  <a:srgbClr val="FFFFFF"/>
                </a:solidFill>
                <a:latin typeface="Calibri"/>
              </a:rPr>
              <a:t>▪ Theft alert log: timestamp, probability, scenario</a:t>
            </a:r>
          </a:p>
          <a:p>
            <a:pPr>
              <a:spcBef>
                <a:spcPts val="400"/>
              </a:spcBef>
            </a:pPr>
            <a:r>
              <a:rPr sz="1250">
                <a:solidFill>
                  <a:srgbClr val="FFFFFF"/>
                </a:solidFill>
                <a:latin typeface="Calibri"/>
              </a:rPr>
              <a:t>▪ Accessible by utility engineers from any browser</a:t>
            </a:r>
          </a:p>
        </p:txBody>
      </p:sp>
      <p:sp>
        <p:nvSpPr>
          <p:cNvPr id="21" name="TextBox 20"/>
          <p:cNvSpPr txBox="1"/>
          <p:nvPr/>
        </p:nvSpPr>
        <p:spPr>
          <a:xfrm>
            <a:off x="3977639" y="3520440"/>
            <a:ext cx="365760" cy="457200"/>
          </a:xfrm>
          <a:prstGeom prst="rect">
            <a:avLst/>
          </a:prstGeom>
          <a:noFill/>
        </p:spPr>
        <p:txBody>
          <a:bodyPr wrap="square">
            <a:spAutoFit/>
          </a:bodyPr>
          <a:lstStyle/>
          <a:p>
            <a:pPr algn="ctr"/>
            <a:r>
              <a:rPr sz="2800" b="1" i="0">
                <a:solidFill>
                  <a:srgbClr val="C49A22"/>
                </a:solidFill>
                <a:latin typeface="Calibri"/>
              </a:rPr>
              <a:t>→</a:t>
            </a:r>
          </a:p>
        </p:txBody>
      </p:sp>
      <p:sp>
        <p:nvSpPr>
          <p:cNvPr id="22" name="TextBox 21"/>
          <p:cNvSpPr txBox="1"/>
          <p:nvPr/>
        </p:nvSpPr>
        <p:spPr>
          <a:xfrm>
            <a:off x="7863840" y="3520440"/>
            <a:ext cx="365760" cy="457200"/>
          </a:xfrm>
          <a:prstGeom prst="rect">
            <a:avLst/>
          </a:prstGeom>
          <a:noFill/>
        </p:spPr>
        <p:txBody>
          <a:bodyPr wrap="square">
            <a:spAutoFit/>
          </a:bodyPr>
          <a:lstStyle/>
          <a:p>
            <a:pPr algn="ctr"/>
            <a:r>
              <a:rPr sz="2800" b="1" i="0">
                <a:solidFill>
                  <a:srgbClr val="C49A22"/>
                </a:solidFill>
                <a:latin typeface="Calibr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Methodology</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i="0">
                <a:solidFill>
                  <a:srgbClr val="C49A22"/>
                </a:solidFill>
                <a:latin typeface="Calibri"/>
              </a:rPr>
              <a:t>Hardware Setup &amp; Data Pipeline</a:t>
            </a:r>
          </a:p>
        </p:txBody>
      </p:sp>
      <p:sp>
        <p:nvSpPr>
          <p:cNvPr id="5" name="Rectangle 4"/>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8" name="TextBox 7"/>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9 / 17</a:t>
            </a:r>
          </a:p>
        </p:txBody>
      </p:sp>
      <p:sp>
        <p:nvSpPr>
          <p:cNvPr id="9" name="Rectangle 8"/>
          <p:cNvSpPr/>
          <p:nvPr/>
        </p:nvSpPr>
        <p:spPr>
          <a:xfrm>
            <a:off x="274320" y="1325880"/>
            <a:ext cx="5303520" cy="4572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371600"/>
            <a:ext cx="5120640" cy="411480"/>
          </a:xfrm>
          <a:prstGeom prst="rect">
            <a:avLst/>
          </a:prstGeom>
          <a:noFill/>
        </p:spPr>
        <p:txBody>
          <a:bodyPr wrap="square">
            <a:spAutoFit/>
          </a:bodyPr>
          <a:lstStyle/>
          <a:p>
            <a:pPr algn="l"/>
            <a:r>
              <a:rPr sz="1500" b="1" i="0">
                <a:solidFill>
                  <a:srgbClr val="C49A22"/>
                </a:solidFill>
                <a:latin typeface="Calibri"/>
              </a:rPr>
              <a:t>Hardware Components</a:t>
            </a:r>
          </a:p>
        </p:txBody>
      </p:sp>
      <p:sp>
        <p:nvSpPr>
          <p:cNvPr id="11" name="Rectangle 10"/>
          <p:cNvSpPr/>
          <p:nvPr/>
        </p:nvSpPr>
        <p:spPr>
          <a:xfrm>
            <a:off x="365760" y="1920240"/>
            <a:ext cx="2011680" cy="7315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011680"/>
            <a:ext cx="2011680" cy="548640"/>
          </a:xfrm>
          <a:prstGeom prst="rect">
            <a:avLst/>
          </a:prstGeom>
          <a:noFill/>
        </p:spPr>
        <p:txBody>
          <a:bodyPr wrap="square">
            <a:spAutoFit/>
          </a:bodyPr>
          <a:lstStyle/>
          <a:p>
            <a:pPr algn="ctr"/>
            <a:r>
              <a:rPr sz="1200" b="1" i="0">
                <a:solidFill>
                  <a:srgbClr val="FFFFFF"/>
                </a:solidFill>
                <a:latin typeface="Calibri"/>
              </a:rPr>
              <a:t>Raspberry Pi 4</a:t>
            </a:r>
          </a:p>
        </p:txBody>
      </p:sp>
      <p:sp>
        <p:nvSpPr>
          <p:cNvPr id="13" name="TextBox 12"/>
          <p:cNvSpPr txBox="1"/>
          <p:nvPr/>
        </p:nvSpPr>
        <p:spPr>
          <a:xfrm>
            <a:off x="2514600" y="1920240"/>
            <a:ext cx="2926080" cy="777240"/>
          </a:xfrm>
          <a:prstGeom prst="rect">
            <a:avLst/>
          </a:prstGeom>
          <a:noFill/>
        </p:spPr>
        <p:txBody>
          <a:bodyPr wrap="square">
            <a:spAutoFit/>
          </a:bodyPr>
          <a:lstStyle/>
          <a:p>
            <a:pPr algn="l"/>
            <a:r>
              <a:rPr sz="1100" b="0" i="0">
                <a:solidFill>
                  <a:srgbClr val="FFFFFF"/>
                </a:solidFill>
                <a:latin typeface="Calibri"/>
              </a:rPr>
              <a:t>4 GB RAM, Debian 13 headless
Python 3.11 + pymodbus + scikit-learn</a:t>
            </a:r>
          </a:p>
        </p:txBody>
      </p:sp>
      <p:sp>
        <p:nvSpPr>
          <p:cNvPr id="14" name="Rectangle 13"/>
          <p:cNvSpPr/>
          <p:nvPr/>
        </p:nvSpPr>
        <p:spPr>
          <a:xfrm>
            <a:off x="365760" y="2834640"/>
            <a:ext cx="2011680" cy="7315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926080"/>
            <a:ext cx="2011680" cy="548640"/>
          </a:xfrm>
          <a:prstGeom prst="rect">
            <a:avLst/>
          </a:prstGeom>
          <a:noFill/>
        </p:spPr>
        <p:txBody>
          <a:bodyPr wrap="square">
            <a:spAutoFit/>
          </a:bodyPr>
          <a:lstStyle/>
          <a:p>
            <a:pPr algn="ctr"/>
            <a:r>
              <a:rPr sz="1200" b="1" i="0">
                <a:solidFill>
                  <a:srgbClr val="FFFFFF"/>
                </a:solidFill>
                <a:latin typeface="Calibri"/>
              </a:rPr>
              <a:t>CHINT DTSU666</a:t>
            </a:r>
          </a:p>
        </p:txBody>
      </p:sp>
      <p:sp>
        <p:nvSpPr>
          <p:cNvPr id="16" name="TextBox 15"/>
          <p:cNvSpPr txBox="1"/>
          <p:nvPr/>
        </p:nvSpPr>
        <p:spPr>
          <a:xfrm>
            <a:off x="2514600" y="2834640"/>
            <a:ext cx="2926080" cy="777240"/>
          </a:xfrm>
          <a:prstGeom prst="rect">
            <a:avLst/>
          </a:prstGeom>
          <a:noFill/>
        </p:spPr>
        <p:txBody>
          <a:bodyPr wrap="square">
            <a:spAutoFit/>
          </a:bodyPr>
          <a:lstStyle/>
          <a:p>
            <a:pPr algn="l"/>
            <a:r>
              <a:rPr sz="1100" b="0" i="0">
                <a:solidFill>
                  <a:srgbClr val="FFFFFF"/>
                </a:solidFill>
                <a:latin typeface="Calibri"/>
              </a:rPr>
              <a:t>3-phase energy meter, Modbus RTU
9 parameters: V/I/P/PF/freq per phase</a:t>
            </a:r>
          </a:p>
        </p:txBody>
      </p:sp>
      <p:sp>
        <p:nvSpPr>
          <p:cNvPr id="17" name="Rectangle 16"/>
          <p:cNvSpPr/>
          <p:nvPr/>
        </p:nvSpPr>
        <p:spPr>
          <a:xfrm>
            <a:off x="365760" y="3749040"/>
            <a:ext cx="2011680" cy="7315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3840480"/>
            <a:ext cx="2011680" cy="548640"/>
          </a:xfrm>
          <a:prstGeom prst="rect">
            <a:avLst/>
          </a:prstGeom>
          <a:noFill/>
        </p:spPr>
        <p:txBody>
          <a:bodyPr wrap="square">
            <a:spAutoFit/>
          </a:bodyPr>
          <a:lstStyle/>
          <a:p>
            <a:pPr algn="ctr"/>
            <a:r>
              <a:rPr sz="1200" b="1" i="0">
                <a:solidFill>
                  <a:srgbClr val="FFFFFF"/>
                </a:solidFill>
                <a:latin typeface="Calibri"/>
              </a:rPr>
              <a:t>CH341 Adapter</a:t>
            </a:r>
          </a:p>
        </p:txBody>
      </p:sp>
      <p:sp>
        <p:nvSpPr>
          <p:cNvPr id="19" name="TextBox 18"/>
          <p:cNvSpPr txBox="1"/>
          <p:nvPr/>
        </p:nvSpPr>
        <p:spPr>
          <a:xfrm>
            <a:off x="2514600" y="3749040"/>
            <a:ext cx="2926080" cy="777240"/>
          </a:xfrm>
          <a:prstGeom prst="rect">
            <a:avLst/>
          </a:prstGeom>
          <a:noFill/>
        </p:spPr>
        <p:txBody>
          <a:bodyPr wrap="square">
            <a:spAutoFit/>
          </a:bodyPr>
          <a:lstStyle/>
          <a:p>
            <a:pPr algn="l"/>
            <a:r>
              <a:rPr sz="1100" b="0" i="0">
                <a:solidFill>
                  <a:srgbClr val="FFFFFF"/>
                </a:solidFill>
                <a:latin typeface="Calibri"/>
              </a:rPr>
              <a:t>USB→RS485, 9600 baud, 8N1
Presents as /dev/ttyUSB0</a:t>
            </a:r>
          </a:p>
        </p:txBody>
      </p:sp>
      <p:sp>
        <p:nvSpPr>
          <p:cNvPr id="20" name="Rectangle 19"/>
          <p:cNvSpPr/>
          <p:nvPr/>
        </p:nvSpPr>
        <p:spPr>
          <a:xfrm>
            <a:off x="365760" y="4663440"/>
            <a:ext cx="2011680" cy="7315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4754880"/>
            <a:ext cx="2011680" cy="548640"/>
          </a:xfrm>
          <a:prstGeom prst="rect">
            <a:avLst/>
          </a:prstGeom>
          <a:noFill/>
        </p:spPr>
        <p:txBody>
          <a:bodyPr wrap="square">
            <a:spAutoFit/>
          </a:bodyPr>
          <a:lstStyle/>
          <a:p>
            <a:pPr algn="ctr"/>
            <a:r>
              <a:rPr sz="1200" b="1" i="0">
                <a:solidFill>
                  <a:srgbClr val="FFFFFF"/>
                </a:solidFill>
                <a:latin typeface="Calibri"/>
              </a:rPr>
              <a:t>ZeroTier VPN</a:t>
            </a:r>
          </a:p>
        </p:txBody>
      </p:sp>
      <p:sp>
        <p:nvSpPr>
          <p:cNvPr id="22" name="TextBox 21"/>
          <p:cNvSpPr txBox="1"/>
          <p:nvPr/>
        </p:nvSpPr>
        <p:spPr>
          <a:xfrm>
            <a:off x="2514600" y="4663440"/>
            <a:ext cx="2926080" cy="777240"/>
          </a:xfrm>
          <a:prstGeom prst="rect">
            <a:avLst/>
          </a:prstGeom>
          <a:noFill/>
        </p:spPr>
        <p:txBody>
          <a:bodyPr wrap="square">
            <a:spAutoFit/>
          </a:bodyPr>
          <a:lstStyle/>
          <a:p>
            <a:pPr algn="l"/>
            <a:r>
              <a:rPr sz="1100" b="0" i="0">
                <a:solidFill>
                  <a:srgbClr val="FFFFFF"/>
                </a:solidFill>
                <a:latin typeface="Calibri"/>
              </a:rPr>
              <a:t>Software-defined VPN for remote
Pi management (192.168.100.11)</a:t>
            </a:r>
          </a:p>
        </p:txBody>
      </p:sp>
      <p:sp>
        <p:nvSpPr>
          <p:cNvPr id="23" name="Rectangle 22"/>
          <p:cNvSpPr/>
          <p:nvPr/>
        </p:nvSpPr>
        <p:spPr>
          <a:xfrm>
            <a:off x="5852160" y="1325880"/>
            <a:ext cx="6035040" cy="457200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0" y="1371600"/>
            <a:ext cx="5852160" cy="411480"/>
          </a:xfrm>
          <a:prstGeom prst="rect">
            <a:avLst/>
          </a:prstGeom>
          <a:noFill/>
        </p:spPr>
        <p:txBody>
          <a:bodyPr wrap="square">
            <a:spAutoFit/>
          </a:bodyPr>
          <a:lstStyle/>
          <a:p>
            <a:pPr algn="l"/>
            <a:r>
              <a:rPr sz="1500" b="1" i="0">
                <a:solidFill>
                  <a:srgbClr val="1A3A5C"/>
                </a:solidFill>
                <a:latin typeface="Calibri"/>
              </a:rPr>
              <a:t>Data Pipeline</a:t>
            </a:r>
          </a:p>
        </p:txBody>
      </p:sp>
      <p:sp>
        <p:nvSpPr>
          <p:cNvPr id="25" name="Rectangle 24"/>
          <p:cNvSpPr/>
          <p:nvPr/>
        </p:nvSpPr>
        <p:spPr>
          <a:xfrm>
            <a:off x="5943600" y="1920240"/>
            <a:ext cx="5760720" cy="621792"/>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35040" y="1956816"/>
            <a:ext cx="5577840" cy="320040"/>
          </a:xfrm>
          <a:prstGeom prst="rect">
            <a:avLst/>
          </a:prstGeom>
          <a:noFill/>
        </p:spPr>
        <p:txBody>
          <a:bodyPr wrap="square">
            <a:spAutoFit/>
          </a:bodyPr>
          <a:lstStyle/>
          <a:p>
            <a:pPr algn="l"/>
            <a:r>
              <a:rPr sz="1300" b="1" i="0">
                <a:solidFill>
                  <a:srgbClr val="FFFFFF"/>
                </a:solidFill>
                <a:latin typeface="Calibri"/>
              </a:rPr>
              <a:t>Modbus RTU Poll (every 10 s)</a:t>
            </a:r>
          </a:p>
        </p:txBody>
      </p:sp>
      <p:sp>
        <p:nvSpPr>
          <p:cNvPr id="27" name="TextBox 26"/>
          <p:cNvSpPr txBox="1"/>
          <p:nvPr/>
        </p:nvSpPr>
        <p:spPr>
          <a:xfrm>
            <a:off x="6035040" y="2267712"/>
            <a:ext cx="5577840" cy="256032"/>
          </a:xfrm>
          <a:prstGeom prst="rect">
            <a:avLst/>
          </a:prstGeom>
          <a:noFill/>
        </p:spPr>
        <p:txBody>
          <a:bodyPr wrap="square">
            <a:spAutoFit/>
          </a:bodyPr>
          <a:lstStyle/>
          <a:p>
            <a:pPr algn="l"/>
            <a:r>
              <a:rPr sz="1100" b="0" i="0">
                <a:solidFill>
                  <a:srgbClr val="C49A22"/>
                </a:solidFill>
                <a:latin typeface="Calibri"/>
              </a:rPr>
              <a:t>9 registers read from DTSU666</a:t>
            </a:r>
          </a:p>
        </p:txBody>
      </p:sp>
      <p:sp>
        <p:nvSpPr>
          <p:cNvPr id="28" name="Rectangle 27"/>
          <p:cNvSpPr/>
          <p:nvPr/>
        </p:nvSpPr>
        <p:spPr>
          <a:xfrm>
            <a:off x="5943600" y="2670048"/>
            <a:ext cx="5760720" cy="62179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0" y="2706624"/>
            <a:ext cx="5577840" cy="320040"/>
          </a:xfrm>
          <a:prstGeom prst="rect">
            <a:avLst/>
          </a:prstGeom>
          <a:noFill/>
        </p:spPr>
        <p:txBody>
          <a:bodyPr wrap="square">
            <a:spAutoFit/>
          </a:bodyPr>
          <a:lstStyle/>
          <a:p>
            <a:pPr algn="l"/>
            <a:r>
              <a:rPr sz="1300" b="1" i="0">
                <a:solidFill>
                  <a:srgbClr val="FFFFFF"/>
                </a:solidFill>
                <a:latin typeface="Calibri"/>
              </a:rPr>
              <a:t>Buffer (900 polls)</a:t>
            </a:r>
          </a:p>
        </p:txBody>
      </p:sp>
      <p:sp>
        <p:nvSpPr>
          <p:cNvPr id="30" name="TextBox 29"/>
          <p:cNvSpPr txBox="1"/>
          <p:nvPr/>
        </p:nvSpPr>
        <p:spPr>
          <a:xfrm>
            <a:off x="6035040" y="3017520"/>
            <a:ext cx="5577840" cy="256032"/>
          </a:xfrm>
          <a:prstGeom prst="rect">
            <a:avLst/>
          </a:prstGeom>
          <a:noFill/>
        </p:spPr>
        <p:txBody>
          <a:bodyPr wrap="square">
            <a:spAutoFit/>
          </a:bodyPr>
          <a:lstStyle/>
          <a:p>
            <a:pPr algn="l"/>
            <a:r>
              <a:rPr sz="1100" b="0" i="0">
                <a:solidFill>
                  <a:srgbClr val="FFFFFF"/>
                </a:solidFill>
                <a:latin typeface="Calibri"/>
              </a:rPr>
              <a:t>Rolling 15-min window in RAM</a:t>
            </a:r>
          </a:p>
        </p:txBody>
      </p:sp>
      <p:sp>
        <p:nvSpPr>
          <p:cNvPr id="31" name="Rectangle 30"/>
          <p:cNvSpPr/>
          <p:nvPr/>
        </p:nvSpPr>
        <p:spPr>
          <a:xfrm>
            <a:off x="5943600" y="3419856"/>
            <a:ext cx="5760720" cy="621792"/>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35040" y="3456432"/>
            <a:ext cx="5577840" cy="320040"/>
          </a:xfrm>
          <a:prstGeom prst="rect">
            <a:avLst/>
          </a:prstGeom>
          <a:noFill/>
        </p:spPr>
        <p:txBody>
          <a:bodyPr wrap="square">
            <a:spAutoFit/>
          </a:bodyPr>
          <a:lstStyle/>
          <a:p>
            <a:pPr algn="l"/>
            <a:r>
              <a:rPr sz="1300" b="1" i="0">
                <a:solidFill>
                  <a:srgbClr val="FFFFFF"/>
                </a:solidFill>
                <a:latin typeface="Calibri"/>
              </a:rPr>
              <a:t>Aggregate (every 15 min)</a:t>
            </a:r>
          </a:p>
        </p:txBody>
      </p:sp>
      <p:sp>
        <p:nvSpPr>
          <p:cNvPr id="33" name="TextBox 32"/>
          <p:cNvSpPr txBox="1"/>
          <p:nvPr/>
        </p:nvSpPr>
        <p:spPr>
          <a:xfrm>
            <a:off x="6035040" y="3767328"/>
            <a:ext cx="5577840" cy="256032"/>
          </a:xfrm>
          <a:prstGeom prst="rect">
            <a:avLst/>
          </a:prstGeom>
          <a:noFill/>
        </p:spPr>
        <p:txBody>
          <a:bodyPr wrap="square">
            <a:spAutoFit/>
          </a:bodyPr>
          <a:lstStyle/>
          <a:p>
            <a:pPr algn="l"/>
            <a:r>
              <a:rPr sz="1100" b="0" i="0">
                <a:solidFill>
                  <a:srgbClr val="C49A22"/>
                </a:solidFill>
                <a:latin typeface="Calibri"/>
              </a:rPr>
              <a:t>Mean of each parameter → 1 CSV row</a:t>
            </a:r>
          </a:p>
        </p:txBody>
      </p:sp>
      <p:sp>
        <p:nvSpPr>
          <p:cNvPr id="34" name="Rectangle 33"/>
          <p:cNvSpPr/>
          <p:nvPr/>
        </p:nvSpPr>
        <p:spPr>
          <a:xfrm>
            <a:off x="5943600" y="4169664"/>
            <a:ext cx="5760720" cy="62179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4206240"/>
            <a:ext cx="5577840" cy="320040"/>
          </a:xfrm>
          <a:prstGeom prst="rect">
            <a:avLst/>
          </a:prstGeom>
          <a:noFill/>
        </p:spPr>
        <p:txBody>
          <a:bodyPr wrap="square">
            <a:spAutoFit/>
          </a:bodyPr>
          <a:lstStyle/>
          <a:p>
            <a:pPr algn="l"/>
            <a:r>
              <a:rPr sz="1300" b="1" i="0">
                <a:solidFill>
                  <a:srgbClr val="FFFFFF"/>
                </a:solidFill>
                <a:latin typeface="Calibri"/>
              </a:rPr>
              <a:t>detect.py reads last row</a:t>
            </a:r>
          </a:p>
        </p:txBody>
      </p:sp>
      <p:sp>
        <p:nvSpPr>
          <p:cNvPr id="36" name="TextBox 35"/>
          <p:cNvSpPr txBox="1"/>
          <p:nvPr/>
        </p:nvSpPr>
        <p:spPr>
          <a:xfrm>
            <a:off x="6035040" y="4517136"/>
            <a:ext cx="5577840" cy="256032"/>
          </a:xfrm>
          <a:prstGeom prst="rect">
            <a:avLst/>
          </a:prstGeom>
          <a:noFill/>
        </p:spPr>
        <p:txBody>
          <a:bodyPr wrap="square">
            <a:spAutoFit/>
          </a:bodyPr>
          <a:lstStyle/>
          <a:p>
            <a:pPr algn="l"/>
            <a:r>
              <a:rPr sz="1100" b="0" i="0">
                <a:solidFill>
                  <a:srgbClr val="FFFFFF"/>
                </a:solidFill>
                <a:latin typeface="Calibri"/>
              </a:rPr>
              <a:t>Triggers feature engineering</a:t>
            </a:r>
          </a:p>
        </p:txBody>
      </p:sp>
      <p:sp>
        <p:nvSpPr>
          <p:cNvPr id="37" name="Rectangle 36"/>
          <p:cNvSpPr/>
          <p:nvPr/>
        </p:nvSpPr>
        <p:spPr>
          <a:xfrm>
            <a:off x="5943600" y="4919472"/>
            <a:ext cx="5760720" cy="621792"/>
          </a:xfrm>
          <a:prstGeom prst="rect">
            <a:avLst/>
          </a:prstGeom>
          <a:solidFill>
            <a:srgbClr val="1E7E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35040" y="4956048"/>
            <a:ext cx="5577840" cy="320040"/>
          </a:xfrm>
          <a:prstGeom prst="rect">
            <a:avLst/>
          </a:prstGeom>
          <a:noFill/>
        </p:spPr>
        <p:txBody>
          <a:bodyPr wrap="square">
            <a:spAutoFit/>
          </a:bodyPr>
          <a:lstStyle/>
          <a:p>
            <a:pPr algn="l"/>
            <a:r>
              <a:rPr sz="1300" b="1" i="0">
                <a:solidFill>
                  <a:srgbClr val="FFFFFF"/>
                </a:solidFill>
                <a:latin typeface="Calibri"/>
              </a:rPr>
              <a:t>Inference result</a:t>
            </a:r>
          </a:p>
        </p:txBody>
      </p:sp>
      <p:sp>
        <p:nvSpPr>
          <p:cNvPr id="39" name="TextBox 38"/>
          <p:cNvSpPr txBox="1"/>
          <p:nvPr/>
        </p:nvSpPr>
        <p:spPr>
          <a:xfrm>
            <a:off x="6035040" y="5266944"/>
            <a:ext cx="5577840" cy="256032"/>
          </a:xfrm>
          <a:prstGeom prst="rect">
            <a:avLst/>
          </a:prstGeom>
          <a:noFill/>
        </p:spPr>
        <p:txBody>
          <a:bodyPr wrap="square">
            <a:spAutoFit/>
          </a:bodyPr>
          <a:lstStyle/>
          <a:p>
            <a:pPr algn="l"/>
            <a:r>
              <a:rPr sz="1100" b="0" i="0">
                <a:solidFill>
                  <a:srgbClr val="C49A22"/>
                </a:solidFill>
                <a:latin typeface="Calibri"/>
              </a:rPr>
              <a:t>prediction + probability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Methodology</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i="0">
                <a:solidFill>
                  <a:srgbClr val="C49A22"/>
                </a:solidFill>
                <a:latin typeface="Calibri"/>
              </a:rPr>
              <a:t>Machine Learning Model — VotingClassifier Ensemble</a:t>
            </a:r>
          </a:p>
        </p:txBody>
      </p:sp>
      <p:sp>
        <p:nvSpPr>
          <p:cNvPr id="5" name="Rectangle 4"/>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8" name="TextBox 7"/>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10 / 17</a:t>
            </a:r>
          </a:p>
        </p:txBody>
      </p:sp>
      <p:sp>
        <p:nvSpPr>
          <p:cNvPr id="9" name="Rectangle 8"/>
          <p:cNvSpPr/>
          <p:nvPr/>
        </p:nvSpPr>
        <p:spPr>
          <a:xfrm>
            <a:off x="274320" y="1325880"/>
            <a:ext cx="4114800" cy="4572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325880"/>
            <a:ext cx="3931920" cy="548640"/>
          </a:xfrm>
          <a:prstGeom prst="rect">
            <a:avLst/>
          </a:prstGeom>
          <a:noFill/>
        </p:spPr>
        <p:txBody>
          <a:bodyPr wrap="square">
            <a:spAutoFit/>
          </a:bodyPr>
          <a:lstStyle/>
          <a:p>
            <a:pPr algn="l"/>
            <a:r>
              <a:rPr sz="1400" b="1" i="0">
                <a:solidFill>
                  <a:srgbClr val="C49A22"/>
                </a:solidFill>
                <a:latin typeface="Calibri"/>
              </a:rPr>
              <a:t>Feature Engineering
9 raw → 20 features</a:t>
            </a:r>
          </a:p>
        </p:txBody>
      </p:sp>
      <p:sp>
        <p:nvSpPr>
          <p:cNvPr id="11" name="TextBox 10"/>
          <p:cNvSpPr txBox="1"/>
          <p:nvPr/>
        </p:nvSpPr>
        <p:spPr>
          <a:xfrm>
            <a:off x="365760" y="1965960"/>
            <a:ext cx="3840480" cy="3840480"/>
          </a:xfrm>
          <a:prstGeom prst="rect">
            <a:avLst/>
          </a:prstGeom>
          <a:noFill/>
        </p:spPr>
        <p:txBody>
          <a:bodyPr wrap="square">
            <a:spAutoFit/>
          </a:bodyPr>
          <a:lstStyle/>
          <a:p>
            <a:pPr>
              <a:spcBef>
                <a:spcPts val="400"/>
              </a:spcBef>
            </a:pPr>
            <a:r>
              <a:rPr sz="1200">
                <a:solidFill>
                  <a:srgbClr val="FFFFFF"/>
                </a:solidFill>
                <a:latin typeface="Calibri"/>
              </a:rPr>
              <a:t>▪ I_L1, I_L2, I_L3  (phase currents)</a:t>
            </a:r>
          </a:p>
          <a:p>
            <a:pPr>
              <a:spcBef>
                <a:spcPts val="400"/>
              </a:spcBef>
            </a:pPr>
            <a:r>
              <a:rPr sz="1200">
                <a:solidFill>
                  <a:srgbClr val="FFFFFF"/>
                </a:solidFill>
                <a:latin typeface="Calibri"/>
              </a:rPr>
              <a:t>▪ V_L1, V_L2, V_L3  (phase voltages)</a:t>
            </a:r>
          </a:p>
          <a:p>
            <a:pPr>
              <a:spcBef>
                <a:spcPts val="400"/>
              </a:spcBef>
            </a:pPr>
            <a:r>
              <a:rPr sz="1200">
                <a:solidFill>
                  <a:srgbClr val="FFFFFF"/>
                </a:solidFill>
                <a:latin typeface="Calibri"/>
              </a:rPr>
              <a:t>▪ P_total, PF_total, frequency</a:t>
            </a:r>
          </a:p>
          <a:p>
            <a:pPr>
              <a:spcBef>
                <a:spcPts val="400"/>
              </a:spcBef>
            </a:pPr>
            <a:r>
              <a:rPr sz="1200">
                <a:solidFill>
                  <a:srgbClr val="FFFFFF"/>
                </a:solidFill>
                <a:latin typeface="Calibri"/>
              </a:rPr>
              <a:t>▪ ─── engineered ───</a:t>
            </a:r>
          </a:p>
          <a:p>
            <a:pPr>
              <a:spcBef>
                <a:spcPts val="400"/>
              </a:spcBef>
            </a:pPr>
            <a:r>
              <a:rPr sz="1200">
                <a:solidFill>
                  <a:srgbClr val="FFFFFF"/>
                </a:solidFill>
                <a:latin typeface="Calibri"/>
              </a:rPr>
              <a:t>▪ I_imbalance = max(I) − min(I)   ★</a:t>
            </a:r>
          </a:p>
          <a:p>
            <a:pPr>
              <a:spcBef>
                <a:spcPts val="400"/>
              </a:spcBef>
            </a:pPr>
            <a:r>
              <a:rPr sz="1200">
                <a:solidFill>
                  <a:srgbClr val="FFFFFF"/>
                </a:solidFill>
                <a:latin typeface="Calibri"/>
              </a:rPr>
              <a:t>▪ I_L1/L2/L3_zero  (hard flags)</a:t>
            </a:r>
          </a:p>
          <a:p>
            <a:pPr>
              <a:spcBef>
                <a:spcPts val="400"/>
              </a:spcBef>
            </a:pPr>
            <a:r>
              <a:rPr sz="1200">
                <a:solidFill>
                  <a:srgbClr val="FFFFFF"/>
                </a:solidFill>
                <a:latin typeface="Calibri"/>
              </a:rPr>
              <a:t>▪ V_L1/L2/L3_zero  (phase loss)</a:t>
            </a:r>
          </a:p>
          <a:p>
            <a:pPr>
              <a:spcBef>
                <a:spcPts val="400"/>
              </a:spcBef>
            </a:pPr>
            <a:r>
              <a:rPr sz="1200">
                <a:solidFill>
                  <a:srgbClr val="FFFFFF"/>
                </a:solidFill>
                <a:latin typeface="Calibri"/>
              </a:rPr>
              <a:t>▪ PF_zero flag</a:t>
            </a:r>
          </a:p>
          <a:p>
            <a:pPr>
              <a:spcBef>
                <a:spcPts val="400"/>
              </a:spcBef>
            </a:pPr>
            <a:r>
              <a:rPr sz="1200">
                <a:solidFill>
                  <a:srgbClr val="FFFFFF"/>
                </a:solidFill>
                <a:latin typeface="Calibri"/>
              </a:rPr>
              <a:t>▪ I_total = sum(I_L1..L3)</a:t>
            </a:r>
          </a:p>
          <a:p>
            <a:pPr>
              <a:spcBef>
                <a:spcPts val="400"/>
              </a:spcBef>
            </a:pPr>
            <a:r>
              <a:rPr sz="1200">
                <a:solidFill>
                  <a:srgbClr val="FFFFFF"/>
                </a:solidFill>
                <a:latin typeface="Calibri"/>
              </a:rPr>
              <a:t>▪ P_per_I = P / (I_total + ε)     ★</a:t>
            </a:r>
          </a:p>
        </p:txBody>
      </p:sp>
      <p:sp>
        <p:nvSpPr>
          <p:cNvPr id="12" name="TextBox 11"/>
          <p:cNvSpPr txBox="1"/>
          <p:nvPr/>
        </p:nvSpPr>
        <p:spPr>
          <a:xfrm>
            <a:off x="4572000" y="3246120"/>
            <a:ext cx="457200" cy="548640"/>
          </a:xfrm>
          <a:prstGeom prst="rect">
            <a:avLst/>
          </a:prstGeom>
          <a:noFill/>
        </p:spPr>
        <p:txBody>
          <a:bodyPr wrap="square">
            <a:spAutoFit/>
          </a:bodyPr>
          <a:lstStyle/>
          <a:p>
            <a:pPr algn="ctr"/>
            <a:r>
              <a:rPr sz="2800" b="1" i="0">
                <a:solidFill>
                  <a:srgbClr val="C49A22"/>
                </a:solidFill>
                <a:latin typeface="Calibri"/>
              </a:rPr>
              <a:t>→</a:t>
            </a:r>
          </a:p>
        </p:txBody>
      </p:sp>
      <p:sp>
        <p:nvSpPr>
          <p:cNvPr id="13" name="Rectangle 12"/>
          <p:cNvSpPr/>
          <p:nvPr/>
        </p:nvSpPr>
        <p:spPr>
          <a:xfrm>
            <a:off x="5120640" y="1325880"/>
            <a:ext cx="6492240" cy="20574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371600"/>
            <a:ext cx="6309360" cy="411480"/>
          </a:xfrm>
          <a:prstGeom prst="rect">
            <a:avLst/>
          </a:prstGeom>
          <a:noFill/>
        </p:spPr>
        <p:txBody>
          <a:bodyPr wrap="square">
            <a:spAutoFit/>
          </a:bodyPr>
          <a:lstStyle/>
          <a:p>
            <a:pPr algn="l"/>
            <a:r>
              <a:rPr sz="1400" b="1" i="0">
                <a:solidFill>
                  <a:srgbClr val="FFFFFF"/>
                </a:solidFill>
                <a:latin typeface="Calibri"/>
              </a:rPr>
              <a:t>VotingClassifier (soft voting)</a:t>
            </a:r>
          </a:p>
        </p:txBody>
      </p:sp>
      <p:sp>
        <p:nvSpPr>
          <p:cNvPr id="15" name="TextBox 14"/>
          <p:cNvSpPr txBox="1"/>
          <p:nvPr/>
        </p:nvSpPr>
        <p:spPr>
          <a:xfrm>
            <a:off x="5212080" y="1828800"/>
            <a:ext cx="6217920" cy="1463040"/>
          </a:xfrm>
          <a:prstGeom prst="rect">
            <a:avLst/>
          </a:prstGeom>
          <a:noFill/>
        </p:spPr>
        <p:txBody>
          <a:bodyPr wrap="square">
            <a:spAutoFit/>
          </a:bodyPr>
          <a:lstStyle/>
          <a:p>
            <a:pPr>
              <a:spcBef>
                <a:spcPts val="400"/>
              </a:spcBef>
            </a:pPr>
            <a:r>
              <a:rPr sz="1300">
                <a:solidFill>
                  <a:srgbClr val="FFFFFF"/>
                </a:solidFill>
                <a:latin typeface="Calibri"/>
              </a:rPr>
              <a:t>▪ RandomForestClassifier: 200 trees, class_weight='balanced'</a:t>
            </a:r>
          </a:p>
          <a:p>
            <a:pPr>
              <a:spcBef>
                <a:spcPts val="400"/>
              </a:spcBef>
            </a:pPr>
            <a:r>
              <a:rPr sz="1300">
                <a:solidFill>
                  <a:srgbClr val="FFFFFF"/>
                </a:solidFill>
                <a:latin typeface="Calibri"/>
              </a:rPr>
              <a:t>▪ XGBClassifier: 200 rounds, lr=0.1, max_depth=6</a:t>
            </a:r>
          </a:p>
          <a:p>
            <a:pPr>
              <a:spcBef>
                <a:spcPts val="400"/>
              </a:spcBef>
            </a:pPr>
            <a:r>
              <a:rPr sz="1300">
                <a:solidFill>
                  <a:srgbClr val="FFFFFF"/>
                </a:solidFill>
                <a:latin typeface="Calibri"/>
              </a:rPr>
              <a:t>▪ Soft voting: average class probabilities</a:t>
            </a:r>
          </a:p>
          <a:p>
            <a:pPr>
              <a:spcBef>
                <a:spcPts val="400"/>
              </a:spcBef>
            </a:pPr>
            <a:r>
              <a:rPr sz="1300">
                <a:solidFill>
                  <a:srgbClr val="FFFFFF"/>
                </a:solidFill>
                <a:latin typeface="Calibri"/>
              </a:rPr>
              <a:t>▪ Threshold: P(theft) ≥ 0.5 → alert</a:t>
            </a:r>
          </a:p>
        </p:txBody>
      </p:sp>
      <p:sp>
        <p:nvSpPr>
          <p:cNvPr id="16" name="Rectangle 15"/>
          <p:cNvSpPr/>
          <p:nvPr/>
        </p:nvSpPr>
        <p:spPr>
          <a:xfrm>
            <a:off x="5120640" y="3520440"/>
            <a:ext cx="6492240" cy="24688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80" y="3566160"/>
            <a:ext cx="6309360" cy="384048"/>
          </a:xfrm>
          <a:prstGeom prst="rect">
            <a:avLst/>
          </a:prstGeom>
          <a:noFill/>
        </p:spPr>
        <p:txBody>
          <a:bodyPr wrap="square">
            <a:spAutoFit/>
          </a:bodyPr>
          <a:lstStyle/>
          <a:p>
            <a:pPr algn="l"/>
            <a:r>
              <a:rPr sz="1400" b="1" i="0">
                <a:solidFill>
                  <a:srgbClr val="C49A22"/>
                </a:solidFill>
                <a:latin typeface="Calibri"/>
              </a:rPr>
              <a:t>Training Protocol</a:t>
            </a:r>
          </a:p>
        </p:txBody>
      </p:sp>
      <p:sp>
        <p:nvSpPr>
          <p:cNvPr id="18" name="TextBox 17"/>
          <p:cNvSpPr txBox="1"/>
          <p:nvPr/>
        </p:nvSpPr>
        <p:spPr>
          <a:xfrm>
            <a:off x="5212080" y="4023360"/>
            <a:ext cx="6217920" cy="1920240"/>
          </a:xfrm>
          <a:prstGeom prst="rect">
            <a:avLst/>
          </a:prstGeom>
          <a:noFill/>
        </p:spPr>
        <p:txBody>
          <a:bodyPr wrap="square">
            <a:spAutoFit/>
          </a:bodyPr>
          <a:lstStyle/>
          <a:p>
            <a:pPr>
              <a:spcBef>
                <a:spcPts val="400"/>
              </a:spcBef>
            </a:pPr>
            <a:r>
              <a:rPr sz="1300">
                <a:solidFill>
                  <a:srgbClr val="FFFFFF"/>
                </a:solidFill>
                <a:latin typeface="Calibri"/>
              </a:rPr>
              <a:t>▪ ~160,000 samples × 8 scenarios (normal + 7 CT bypasses)</a:t>
            </a:r>
          </a:p>
          <a:p>
            <a:pPr>
              <a:spcBef>
                <a:spcPts val="400"/>
              </a:spcBef>
            </a:pPr>
            <a:r>
              <a:rPr sz="1300">
                <a:solidFill>
                  <a:srgbClr val="FFFFFF"/>
                </a:solidFill>
                <a:latin typeface="Calibri"/>
              </a:rPr>
              <a:t>▪ 80 / 20 stratified train-test split</a:t>
            </a:r>
          </a:p>
          <a:p>
            <a:pPr>
              <a:spcBef>
                <a:spcPts val="400"/>
              </a:spcBef>
            </a:pPr>
            <a:r>
              <a:rPr sz="1300">
                <a:solidFill>
                  <a:srgbClr val="FFFFFF"/>
                </a:solidFill>
                <a:latin typeface="Calibri"/>
              </a:rPr>
              <a:t>▪ StandardScaler fitted on training set only</a:t>
            </a:r>
          </a:p>
          <a:p>
            <a:pPr>
              <a:spcBef>
                <a:spcPts val="400"/>
              </a:spcBef>
            </a:pPr>
            <a:r>
              <a:rPr sz="1300">
                <a:solidFill>
                  <a:srgbClr val="FFFFFF"/>
                </a:solidFill>
                <a:latin typeface="Calibri"/>
              </a:rPr>
              <a:t>▪ scaler.pkl + theft_detector.pkl + features.pkl serialised to Pi</a:t>
            </a:r>
          </a:p>
          <a:p>
            <a:pPr>
              <a:spcBef>
                <a:spcPts val="400"/>
              </a:spcBef>
            </a:pPr>
            <a:r>
              <a:rPr sz="1300">
                <a:solidFill>
                  <a:srgbClr val="FFFFFF"/>
                </a:solidFill>
                <a:latin typeface="Calibri"/>
              </a:rPr>
              <a:t>▪ Edge inference: model.predict_proba() in &lt; 2 ms on Pi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Results &amp; Analysis</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i="0">
                <a:solidFill>
                  <a:srgbClr val="C49A22"/>
                </a:solidFill>
                <a:latin typeface="Calibri"/>
              </a:rPr>
              <a:t>Dataset Summary &amp; Feature Importance</a:t>
            </a:r>
          </a:p>
        </p:txBody>
      </p:sp>
      <p:sp>
        <p:nvSpPr>
          <p:cNvPr id="5" name="Rectangle 4"/>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8" name="TextBox 7"/>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11 / 17</a:t>
            </a:r>
          </a:p>
        </p:txBody>
      </p:sp>
      <p:sp>
        <p:nvSpPr>
          <p:cNvPr id="9" name="Rectangle 8"/>
          <p:cNvSpPr/>
          <p:nvPr/>
        </p:nvSpPr>
        <p:spPr>
          <a:xfrm>
            <a:off x="274320" y="1325880"/>
            <a:ext cx="5303520" cy="44805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371600"/>
            <a:ext cx="5120640" cy="384048"/>
          </a:xfrm>
          <a:prstGeom prst="rect">
            <a:avLst/>
          </a:prstGeom>
          <a:noFill/>
        </p:spPr>
        <p:txBody>
          <a:bodyPr wrap="square">
            <a:spAutoFit/>
          </a:bodyPr>
          <a:lstStyle/>
          <a:p>
            <a:pPr algn="l"/>
            <a:r>
              <a:rPr sz="1400" b="1" i="0">
                <a:solidFill>
                  <a:srgbClr val="C49A22"/>
                </a:solidFill>
                <a:latin typeface="Calibri"/>
              </a:rPr>
              <a:t>Dataset: 160,427 samples</a:t>
            </a:r>
          </a:p>
        </p:txBody>
      </p:sp>
      <p:sp>
        <p:nvSpPr>
          <p:cNvPr id="11" name="Rectangle 10"/>
          <p:cNvSpPr/>
          <p:nvPr/>
        </p:nvSpPr>
        <p:spPr>
          <a:xfrm>
            <a:off x="365760" y="1828800"/>
            <a:ext cx="2560320" cy="36576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874520"/>
            <a:ext cx="2560320" cy="292608"/>
          </a:xfrm>
          <a:prstGeom prst="rect">
            <a:avLst/>
          </a:prstGeom>
          <a:noFill/>
        </p:spPr>
        <p:txBody>
          <a:bodyPr wrap="square">
            <a:spAutoFit/>
          </a:bodyPr>
          <a:lstStyle/>
          <a:p>
            <a:pPr algn="l"/>
            <a:r>
              <a:rPr sz="1200" b="1" i="0">
                <a:solidFill>
                  <a:srgbClr val="FFFFFF"/>
                </a:solidFill>
                <a:latin typeface="Calibri"/>
              </a:rPr>
              <a:t>Scenario</a:t>
            </a:r>
          </a:p>
        </p:txBody>
      </p:sp>
      <p:sp>
        <p:nvSpPr>
          <p:cNvPr id="13" name="Rectangle 12"/>
          <p:cNvSpPr/>
          <p:nvPr/>
        </p:nvSpPr>
        <p:spPr>
          <a:xfrm>
            <a:off x="2926080" y="1828800"/>
            <a:ext cx="1280160" cy="36576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1874520"/>
            <a:ext cx="1280160" cy="292608"/>
          </a:xfrm>
          <a:prstGeom prst="rect">
            <a:avLst/>
          </a:prstGeom>
          <a:noFill/>
        </p:spPr>
        <p:txBody>
          <a:bodyPr wrap="square">
            <a:spAutoFit/>
          </a:bodyPr>
          <a:lstStyle/>
          <a:p>
            <a:pPr algn="l"/>
            <a:r>
              <a:rPr sz="1200" b="1" i="0">
                <a:solidFill>
                  <a:srgbClr val="FFFFFF"/>
                </a:solidFill>
                <a:latin typeface="Calibri"/>
              </a:rPr>
              <a:t>Samples</a:t>
            </a:r>
          </a:p>
        </p:txBody>
      </p:sp>
      <p:sp>
        <p:nvSpPr>
          <p:cNvPr id="15" name="Rectangle 14"/>
          <p:cNvSpPr/>
          <p:nvPr/>
        </p:nvSpPr>
        <p:spPr>
          <a:xfrm>
            <a:off x="4251960" y="1828800"/>
            <a:ext cx="1188720" cy="36576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1874520"/>
            <a:ext cx="1188720" cy="292608"/>
          </a:xfrm>
          <a:prstGeom prst="rect">
            <a:avLst/>
          </a:prstGeom>
          <a:noFill/>
        </p:spPr>
        <p:txBody>
          <a:bodyPr wrap="square">
            <a:spAutoFit/>
          </a:bodyPr>
          <a:lstStyle/>
          <a:p>
            <a:pPr algn="l"/>
            <a:r>
              <a:rPr sz="1200" b="1" i="0">
                <a:solidFill>
                  <a:srgbClr val="FFFFFF"/>
                </a:solidFill>
                <a:latin typeface="Calibri"/>
              </a:rPr>
              <a:t>% Total</a:t>
            </a:r>
          </a:p>
        </p:txBody>
      </p:sp>
      <p:sp>
        <p:nvSpPr>
          <p:cNvPr id="17" name="Rectangle 16"/>
          <p:cNvSpPr/>
          <p:nvPr/>
        </p:nvSpPr>
        <p:spPr>
          <a:xfrm>
            <a:off x="365760" y="2212848"/>
            <a:ext cx="256032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76856"/>
            <a:ext cx="2560320" cy="292608"/>
          </a:xfrm>
          <a:prstGeom prst="rect">
            <a:avLst/>
          </a:prstGeom>
          <a:noFill/>
        </p:spPr>
        <p:txBody>
          <a:bodyPr wrap="square">
            <a:spAutoFit/>
          </a:bodyPr>
          <a:lstStyle/>
          <a:p>
            <a:pPr algn="l"/>
            <a:r>
              <a:rPr sz="1100" b="0" i="0">
                <a:solidFill>
                  <a:srgbClr val="C49A22"/>
                </a:solidFill>
                <a:latin typeface="Calibri"/>
              </a:rPr>
              <a:t>normal</a:t>
            </a:r>
          </a:p>
        </p:txBody>
      </p:sp>
      <p:sp>
        <p:nvSpPr>
          <p:cNvPr id="19" name="Rectangle 18"/>
          <p:cNvSpPr/>
          <p:nvPr/>
        </p:nvSpPr>
        <p:spPr>
          <a:xfrm>
            <a:off x="2926080" y="2212848"/>
            <a:ext cx="128016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2276856"/>
            <a:ext cx="1280160" cy="292608"/>
          </a:xfrm>
          <a:prstGeom prst="rect">
            <a:avLst/>
          </a:prstGeom>
          <a:noFill/>
        </p:spPr>
        <p:txBody>
          <a:bodyPr wrap="square">
            <a:spAutoFit/>
          </a:bodyPr>
          <a:lstStyle/>
          <a:p>
            <a:pPr algn="l"/>
            <a:r>
              <a:rPr sz="1100" b="0" i="0">
                <a:solidFill>
                  <a:srgbClr val="C49A22"/>
                </a:solidFill>
                <a:latin typeface="Calibri"/>
              </a:rPr>
              <a:t>22,847</a:t>
            </a:r>
          </a:p>
        </p:txBody>
      </p:sp>
      <p:sp>
        <p:nvSpPr>
          <p:cNvPr id="21" name="Rectangle 20"/>
          <p:cNvSpPr/>
          <p:nvPr/>
        </p:nvSpPr>
        <p:spPr>
          <a:xfrm>
            <a:off x="4251960" y="2212848"/>
            <a:ext cx="118872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7680" y="2276856"/>
            <a:ext cx="1188720" cy="292608"/>
          </a:xfrm>
          <a:prstGeom prst="rect">
            <a:avLst/>
          </a:prstGeom>
          <a:noFill/>
        </p:spPr>
        <p:txBody>
          <a:bodyPr wrap="square">
            <a:spAutoFit/>
          </a:bodyPr>
          <a:lstStyle/>
          <a:p>
            <a:pPr algn="l"/>
            <a:r>
              <a:rPr sz="1100" b="0" i="0">
                <a:solidFill>
                  <a:srgbClr val="C49A22"/>
                </a:solidFill>
                <a:latin typeface="Calibri"/>
              </a:rPr>
              <a:t>14.2%</a:t>
            </a:r>
          </a:p>
        </p:txBody>
      </p:sp>
      <p:sp>
        <p:nvSpPr>
          <p:cNvPr id="23" name="Rectangle 22"/>
          <p:cNvSpPr/>
          <p:nvPr/>
        </p:nvSpPr>
        <p:spPr>
          <a:xfrm>
            <a:off x="365760" y="2651760"/>
            <a:ext cx="256032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715768"/>
            <a:ext cx="2560320" cy="292608"/>
          </a:xfrm>
          <a:prstGeom prst="rect">
            <a:avLst/>
          </a:prstGeom>
          <a:noFill/>
        </p:spPr>
        <p:txBody>
          <a:bodyPr wrap="square">
            <a:spAutoFit/>
          </a:bodyPr>
          <a:lstStyle/>
          <a:p>
            <a:pPr algn="l"/>
            <a:r>
              <a:rPr sz="1100" b="0" i="0">
                <a:solidFill>
                  <a:srgbClr val="FFFFFF"/>
                </a:solidFill>
                <a:latin typeface="Calibri"/>
              </a:rPr>
              <a:t>bypass_red</a:t>
            </a:r>
          </a:p>
        </p:txBody>
      </p:sp>
      <p:sp>
        <p:nvSpPr>
          <p:cNvPr id="25" name="Rectangle 24"/>
          <p:cNvSpPr/>
          <p:nvPr/>
        </p:nvSpPr>
        <p:spPr>
          <a:xfrm>
            <a:off x="2926080" y="2651760"/>
            <a:ext cx="128016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71800" y="2715768"/>
            <a:ext cx="1280160" cy="292608"/>
          </a:xfrm>
          <a:prstGeom prst="rect">
            <a:avLst/>
          </a:prstGeom>
          <a:noFill/>
        </p:spPr>
        <p:txBody>
          <a:bodyPr wrap="square">
            <a:spAutoFit/>
          </a:bodyPr>
          <a:lstStyle/>
          <a:p>
            <a:pPr algn="l"/>
            <a:r>
              <a:rPr sz="1100" b="0" i="0">
                <a:solidFill>
                  <a:srgbClr val="FFFFFF"/>
                </a:solidFill>
                <a:latin typeface="Calibri"/>
              </a:rPr>
              <a:t>20,318</a:t>
            </a:r>
          </a:p>
        </p:txBody>
      </p:sp>
      <p:sp>
        <p:nvSpPr>
          <p:cNvPr id="27" name="Rectangle 26"/>
          <p:cNvSpPr/>
          <p:nvPr/>
        </p:nvSpPr>
        <p:spPr>
          <a:xfrm>
            <a:off x="4251960" y="2651760"/>
            <a:ext cx="118872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97680" y="2715768"/>
            <a:ext cx="1188720" cy="292608"/>
          </a:xfrm>
          <a:prstGeom prst="rect">
            <a:avLst/>
          </a:prstGeom>
          <a:noFill/>
        </p:spPr>
        <p:txBody>
          <a:bodyPr wrap="square">
            <a:spAutoFit/>
          </a:bodyPr>
          <a:lstStyle/>
          <a:p>
            <a:pPr algn="l"/>
            <a:r>
              <a:rPr sz="1100" b="0" i="0">
                <a:solidFill>
                  <a:srgbClr val="FFFFFF"/>
                </a:solidFill>
                <a:latin typeface="Calibri"/>
              </a:rPr>
              <a:t>12.7%</a:t>
            </a:r>
          </a:p>
        </p:txBody>
      </p:sp>
      <p:sp>
        <p:nvSpPr>
          <p:cNvPr id="29" name="Rectangle 28"/>
          <p:cNvSpPr/>
          <p:nvPr/>
        </p:nvSpPr>
        <p:spPr>
          <a:xfrm>
            <a:off x="365760" y="3090672"/>
            <a:ext cx="256032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54680"/>
            <a:ext cx="2560320" cy="292608"/>
          </a:xfrm>
          <a:prstGeom prst="rect">
            <a:avLst/>
          </a:prstGeom>
          <a:noFill/>
        </p:spPr>
        <p:txBody>
          <a:bodyPr wrap="square">
            <a:spAutoFit/>
          </a:bodyPr>
          <a:lstStyle/>
          <a:p>
            <a:pPr algn="l"/>
            <a:r>
              <a:rPr sz="1100" b="0" i="0">
                <a:solidFill>
                  <a:srgbClr val="FFFFFF"/>
                </a:solidFill>
                <a:latin typeface="Calibri"/>
              </a:rPr>
              <a:t>bypass_yellow</a:t>
            </a:r>
          </a:p>
        </p:txBody>
      </p:sp>
      <p:sp>
        <p:nvSpPr>
          <p:cNvPr id="31" name="Rectangle 30"/>
          <p:cNvSpPr/>
          <p:nvPr/>
        </p:nvSpPr>
        <p:spPr>
          <a:xfrm>
            <a:off x="2926080" y="3090672"/>
            <a:ext cx="128016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71800" y="3154680"/>
            <a:ext cx="1280160" cy="292608"/>
          </a:xfrm>
          <a:prstGeom prst="rect">
            <a:avLst/>
          </a:prstGeom>
          <a:noFill/>
        </p:spPr>
        <p:txBody>
          <a:bodyPr wrap="square">
            <a:spAutoFit/>
          </a:bodyPr>
          <a:lstStyle/>
          <a:p>
            <a:pPr algn="l"/>
            <a:r>
              <a:rPr sz="1100" b="0" i="0">
                <a:solidFill>
                  <a:srgbClr val="FFFFFF"/>
                </a:solidFill>
                <a:latin typeface="Calibri"/>
              </a:rPr>
              <a:t>19,645</a:t>
            </a:r>
          </a:p>
        </p:txBody>
      </p:sp>
      <p:sp>
        <p:nvSpPr>
          <p:cNvPr id="33" name="Rectangle 32"/>
          <p:cNvSpPr/>
          <p:nvPr/>
        </p:nvSpPr>
        <p:spPr>
          <a:xfrm>
            <a:off x="4251960" y="3090672"/>
            <a:ext cx="118872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97680" y="3154680"/>
            <a:ext cx="1188720" cy="292608"/>
          </a:xfrm>
          <a:prstGeom prst="rect">
            <a:avLst/>
          </a:prstGeom>
          <a:noFill/>
        </p:spPr>
        <p:txBody>
          <a:bodyPr wrap="square">
            <a:spAutoFit/>
          </a:bodyPr>
          <a:lstStyle/>
          <a:p>
            <a:pPr algn="l"/>
            <a:r>
              <a:rPr sz="1100" b="0" i="0">
                <a:solidFill>
                  <a:srgbClr val="FFFFFF"/>
                </a:solidFill>
                <a:latin typeface="Calibri"/>
              </a:rPr>
              <a:t>12.2%</a:t>
            </a:r>
          </a:p>
        </p:txBody>
      </p:sp>
      <p:sp>
        <p:nvSpPr>
          <p:cNvPr id="35" name="Rectangle 34"/>
          <p:cNvSpPr/>
          <p:nvPr/>
        </p:nvSpPr>
        <p:spPr>
          <a:xfrm>
            <a:off x="365760" y="3529584"/>
            <a:ext cx="256032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593592"/>
            <a:ext cx="2560320" cy="292608"/>
          </a:xfrm>
          <a:prstGeom prst="rect">
            <a:avLst/>
          </a:prstGeom>
          <a:noFill/>
        </p:spPr>
        <p:txBody>
          <a:bodyPr wrap="square">
            <a:spAutoFit/>
          </a:bodyPr>
          <a:lstStyle/>
          <a:p>
            <a:pPr algn="l"/>
            <a:r>
              <a:rPr sz="1100" b="0" i="0">
                <a:solidFill>
                  <a:srgbClr val="FFFFFF"/>
                </a:solidFill>
                <a:latin typeface="Calibri"/>
              </a:rPr>
              <a:t>bypass_blue</a:t>
            </a:r>
          </a:p>
        </p:txBody>
      </p:sp>
      <p:sp>
        <p:nvSpPr>
          <p:cNvPr id="37" name="Rectangle 36"/>
          <p:cNvSpPr/>
          <p:nvPr/>
        </p:nvSpPr>
        <p:spPr>
          <a:xfrm>
            <a:off x="2926080" y="3529584"/>
            <a:ext cx="128016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971800" y="3593592"/>
            <a:ext cx="1280160" cy="292608"/>
          </a:xfrm>
          <a:prstGeom prst="rect">
            <a:avLst/>
          </a:prstGeom>
          <a:noFill/>
        </p:spPr>
        <p:txBody>
          <a:bodyPr wrap="square">
            <a:spAutoFit/>
          </a:bodyPr>
          <a:lstStyle/>
          <a:p>
            <a:pPr algn="l"/>
            <a:r>
              <a:rPr sz="1100" b="0" i="0">
                <a:solidFill>
                  <a:srgbClr val="FFFFFF"/>
                </a:solidFill>
                <a:latin typeface="Calibri"/>
              </a:rPr>
              <a:t>20,112</a:t>
            </a:r>
          </a:p>
        </p:txBody>
      </p:sp>
      <p:sp>
        <p:nvSpPr>
          <p:cNvPr id="39" name="Rectangle 38"/>
          <p:cNvSpPr/>
          <p:nvPr/>
        </p:nvSpPr>
        <p:spPr>
          <a:xfrm>
            <a:off x="4251960" y="3529584"/>
            <a:ext cx="118872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97680" y="3593592"/>
            <a:ext cx="1188720" cy="292608"/>
          </a:xfrm>
          <a:prstGeom prst="rect">
            <a:avLst/>
          </a:prstGeom>
          <a:noFill/>
        </p:spPr>
        <p:txBody>
          <a:bodyPr wrap="square">
            <a:spAutoFit/>
          </a:bodyPr>
          <a:lstStyle/>
          <a:p>
            <a:pPr algn="l"/>
            <a:r>
              <a:rPr sz="1100" b="0" i="0">
                <a:solidFill>
                  <a:srgbClr val="FFFFFF"/>
                </a:solidFill>
                <a:latin typeface="Calibri"/>
              </a:rPr>
              <a:t>12.5%</a:t>
            </a:r>
          </a:p>
        </p:txBody>
      </p:sp>
      <p:sp>
        <p:nvSpPr>
          <p:cNvPr id="41" name="Rectangle 40"/>
          <p:cNvSpPr/>
          <p:nvPr/>
        </p:nvSpPr>
        <p:spPr>
          <a:xfrm>
            <a:off x="365760" y="3968496"/>
            <a:ext cx="256032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4032504"/>
            <a:ext cx="2560320" cy="292608"/>
          </a:xfrm>
          <a:prstGeom prst="rect">
            <a:avLst/>
          </a:prstGeom>
          <a:noFill/>
        </p:spPr>
        <p:txBody>
          <a:bodyPr wrap="square">
            <a:spAutoFit/>
          </a:bodyPr>
          <a:lstStyle/>
          <a:p>
            <a:pPr algn="l"/>
            <a:r>
              <a:rPr sz="1100" b="0" i="0">
                <a:solidFill>
                  <a:srgbClr val="FFFFFF"/>
                </a:solidFill>
                <a:latin typeface="Calibri"/>
              </a:rPr>
              <a:t>bypass_red_yellow</a:t>
            </a:r>
          </a:p>
        </p:txBody>
      </p:sp>
      <p:sp>
        <p:nvSpPr>
          <p:cNvPr id="43" name="Rectangle 42"/>
          <p:cNvSpPr/>
          <p:nvPr/>
        </p:nvSpPr>
        <p:spPr>
          <a:xfrm>
            <a:off x="2926080" y="3968496"/>
            <a:ext cx="128016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971800" y="4032504"/>
            <a:ext cx="1280160" cy="292608"/>
          </a:xfrm>
          <a:prstGeom prst="rect">
            <a:avLst/>
          </a:prstGeom>
          <a:noFill/>
        </p:spPr>
        <p:txBody>
          <a:bodyPr wrap="square">
            <a:spAutoFit/>
          </a:bodyPr>
          <a:lstStyle/>
          <a:p>
            <a:pPr algn="l"/>
            <a:r>
              <a:rPr sz="1100" b="0" i="0">
                <a:solidFill>
                  <a:srgbClr val="FFFFFF"/>
                </a:solidFill>
                <a:latin typeface="Calibri"/>
              </a:rPr>
              <a:t>19,201</a:t>
            </a:r>
          </a:p>
        </p:txBody>
      </p:sp>
      <p:sp>
        <p:nvSpPr>
          <p:cNvPr id="45" name="Rectangle 44"/>
          <p:cNvSpPr/>
          <p:nvPr/>
        </p:nvSpPr>
        <p:spPr>
          <a:xfrm>
            <a:off x="4251960" y="3968496"/>
            <a:ext cx="118872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97680" y="4032504"/>
            <a:ext cx="1188720" cy="292608"/>
          </a:xfrm>
          <a:prstGeom prst="rect">
            <a:avLst/>
          </a:prstGeom>
          <a:noFill/>
        </p:spPr>
        <p:txBody>
          <a:bodyPr wrap="square">
            <a:spAutoFit/>
          </a:bodyPr>
          <a:lstStyle/>
          <a:p>
            <a:pPr algn="l"/>
            <a:r>
              <a:rPr sz="1100" b="0" i="0">
                <a:solidFill>
                  <a:srgbClr val="FFFFFF"/>
                </a:solidFill>
                <a:latin typeface="Calibri"/>
              </a:rPr>
              <a:t>12.0%</a:t>
            </a:r>
          </a:p>
        </p:txBody>
      </p:sp>
      <p:sp>
        <p:nvSpPr>
          <p:cNvPr id="47" name="Rectangle 46"/>
          <p:cNvSpPr/>
          <p:nvPr/>
        </p:nvSpPr>
        <p:spPr>
          <a:xfrm>
            <a:off x="365760" y="4407408"/>
            <a:ext cx="256032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471416"/>
            <a:ext cx="2560320" cy="292608"/>
          </a:xfrm>
          <a:prstGeom prst="rect">
            <a:avLst/>
          </a:prstGeom>
          <a:noFill/>
        </p:spPr>
        <p:txBody>
          <a:bodyPr wrap="square">
            <a:spAutoFit/>
          </a:bodyPr>
          <a:lstStyle/>
          <a:p>
            <a:pPr algn="l"/>
            <a:r>
              <a:rPr sz="1100" b="0" i="0">
                <a:solidFill>
                  <a:srgbClr val="FFFFFF"/>
                </a:solidFill>
                <a:latin typeface="Calibri"/>
              </a:rPr>
              <a:t>bypass_red_blue</a:t>
            </a:r>
          </a:p>
        </p:txBody>
      </p:sp>
      <p:sp>
        <p:nvSpPr>
          <p:cNvPr id="49" name="Rectangle 48"/>
          <p:cNvSpPr/>
          <p:nvPr/>
        </p:nvSpPr>
        <p:spPr>
          <a:xfrm>
            <a:off x="2926080" y="4407408"/>
            <a:ext cx="128016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971800" y="4471416"/>
            <a:ext cx="1280160" cy="292608"/>
          </a:xfrm>
          <a:prstGeom prst="rect">
            <a:avLst/>
          </a:prstGeom>
          <a:noFill/>
        </p:spPr>
        <p:txBody>
          <a:bodyPr wrap="square">
            <a:spAutoFit/>
          </a:bodyPr>
          <a:lstStyle/>
          <a:p>
            <a:pPr algn="l"/>
            <a:r>
              <a:rPr sz="1100" b="0" i="0">
                <a:solidFill>
                  <a:srgbClr val="FFFFFF"/>
                </a:solidFill>
                <a:latin typeface="Calibri"/>
              </a:rPr>
              <a:t>19,876</a:t>
            </a:r>
          </a:p>
        </p:txBody>
      </p:sp>
      <p:sp>
        <p:nvSpPr>
          <p:cNvPr id="51" name="Rectangle 50"/>
          <p:cNvSpPr/>
          <p:nvPr/>
        </p:nvSpPr>
        <p:spPr>
          <a:xfrm>
            <a:off x="4251960" y="4407408"/>
            <a:ext cx="118872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297680" y="4471416"/>
            <a:ext cx="1188720" cy="292608"/>
          </a:xfrm>
          <a:prstGeom prst="rect">
            <a:avLst/>
          </a:prstGeom>
          <a:noFill/>
        </p:spPr>
        <p:txBody>
          <a:bodyPr wrap="square">
            <a:spAutoFit/>
          </a:bodyPr>
          <a:lstStyle/>
          <a:p>
            <a:pPr algn="l"/>
            <a:r>
              <a:rPr sz="1100" b="0" i="0">
                <a:solidFill>
                  <a:srgbClr val="FFFFFF"/>
                </a:solidFill>
                <a:latin typeface="Calibri"/>
              </a:rPr>
              <a:t>12.4%</a:t>
            </a:r>
          </a:p>
        </p:txBody>
      </p:sp>
      <p:sp>
        <p:nvSpPr>
          <p:cNvPr id="53" name="Rectangle 52"/>
          <p:cNvSpPr/>
          <p:nvPr/>
        </p:nvSpPr>
        <p:spPr>
          <a:xfrm>
            <a:off x="365760" y="4846320"/>
            <a:ext cx="256032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80" y="4910328"/>
            <a:ext cx="2560320" cy="292608"/>
          </a:xfrm>
          <a:prstGeom prst="rect">
            <a:avLst/>
          </a:prstGeom>
          <a:noFill/>
        </p:spPr>
        <p:txBody>
          <a:bodyPr wrap="square">
            <a:spAutoFit/>
          </a:bodyPr>
          <a:lstStyle/>
          <a:p>
            <a:pPr algn="l"/>
            <a:r>
              <a:rPr sz="1100" b="0" i="0">
                <a:solidFill>
                  <a:srgbClr val="FFFFFF"/>
                </a:solidFill>
                <a:latin typeface="Calibri"/>
              </a:rPr>
              <a:t>bypass_blue_yellow</a:t>
            </a:r>
          </a:p>
        </p:txBody>
      </p:sp>
      <p:sp>
        <p:nvSpPr>
          <p:cNvPr id="55" name="Rectangle 54"/>
          <p:cNvSpPr/>
          <p:nvPr/>
        </p:nvSpPr>
        <p:spPr>
          <a:xfrm>
            <a:off x="2926080" y="4846320"/>
            <a:ext cx="128016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971800" y="4910328"/>
            <a:ext cx="1280160" cy="292608"/>
          </a:xfrm>
          <a:prstGeom prst="rect">
            <a:avLst/>
          </a:prstGeom>
          <a:noFill/>
        </p:spPr>
        <p:txBody>
          <a:bodyPr wrap="square">
            <a:spAutoFit/>
          </a:bodyPr>
          <a:lstStyle/>
          <a:p>
            <a:pPr algn="l"/>
            <a:r>
              <a:rPr sz="1100" b="0" i="0">
                <a:solidFill>
                  <a:srgbClr val="FFFFFF"/>
                </a:solidFill>
                <a:latin typeface="Calibri"/>
              </a:rPr>
              <a:t>19,534</a:t>
            </a:r>
          </a:p>
        </p:txBody>
      </p:sp>
      <p:sp>
        <p:nvSpPr>
          <p:cNvPr id="57" name="Rectangle 56"/>
          <p:cNvSpPr/>
          <p:nvPr/>
        </p:nvSpPr>
        <p:spPr>
          <a:xfrm>
            <a:off x="4251960" y="4846320"/>
            <a:ext cx="118872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297680" y="4910328"/>
            <a:ext cx="1188720" cy="292608"/>
          </a:xfrm>
          <a:prstGeom prst="rect">
            <a:avLst/>
          </a:prstGeom>
          <a:noFill/>
        </p:spPr>
        <p:txBody>
          <a:bodyPr wrap="square">
            <a:spAutoFit/>
          </a:bodyPr>
          <a:lstStyle/>
          <a:p>
            <a:pPr algn="l"/>
            <a:r>
              <a:rPr sz="1100" b="0" i="0">
                <a:solidFill>
                  <a:srgbClr val="FFFFFF"/>
                </a:solidFill>
                <a:latin typeface="Calibri"/>
              </a:rPr>
              <a:t>12.2%</a:t>
            </a:r>
          </a:p>
        </p:txBody>
      </p:sp>
      <p:sp>
        <p:nvSpPr>
          <p:cNvPr id="59" name="Rectangle 58"/>
          <p:cNvSpPr/>
          <p:nvPr/>
        </p:nvSpPr>
        <p:spPr>
          <a:xfrm>
            <a:off x="365760" y="5285232"/>
            <a:ext cx="256032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80" y="5349240"/>
            <a:ext cx="2560320" cy="292608"/>
          </a:xfrm>
          <a:prstGeom prst="rect">
            <a:avLst/>
          </a:prstGeom>
          <a:noFill/>
        </p:spPr>
        <p:txBody>
          <a:bodyPr wrap="square">
            <a:spAutoFit/>
          </a:bodyPr>
          <a:lstStyle/>
          <a:p>
            <a:pPr algn="l"/>
            <a:r>
              <a:rPr sz="1100" b="0" i="0">
                <a:solidFill>
                  <a:srgbClr val="FFFFFF"/>
                </a:solidFill>
                <a:latin typeface="Calibri"/>
              </a:rPr>
              <a:t>bypass_all</a:t>
            </a:r>
          </a:p>
        </p:txBody>
      </p:sp>
      <p:sp>
        <p:nvSpPr>
          <p:cNvPr id="61" name="Rectangle 60"/>
          <p:cNvSpPr/>
          <p:nvPr/>
        </p:nvSpPr>
        <p:spPr>
          <a:xfrm>
            <a:off x="2926080" y="5285232"/>
            <a:ext cx="128016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971800" y="5349240"/>
            <a:ext cx="1280160" cy="292608"/>
          </a:xfrm>
          <a:prstGeom prst="rect">
            <a:avLst/>
          </a:prstGeom>
          <a:noFill/>
        </p:spPr>
        <p:txBody>
          <a:bodyPr wrap="square">
            <a:spAutoFit/>
          </a:bodyPr>
          <a:lstStyle/>
          <a:p>
            <a:pPr algn="l"/>
            <a:r>
              <a:rPr sz="1100" b="0" i="0">
                <a:solidFill>
                  <a:srgbClr val="FFFFFF"/>
                </a:solidFill>
                <a:latin typeface="Calibri"/>
              </a:rPr>
              <a:t>18,894</a:t>
            </a:r>
          </a:p>
        </p:txBody>
      </p:sp>
      <p:sp>
        <p:nvSpPr>
          <p:cNvPr id="63" name="Rectangle 62"/>
          <p:cNvSpPr/>
          <p:nvPr/>
        </p:nvSpPr>
        <p:spPr>
          <a:xfrm>
            <a:off x="4251960" y="5285232"/>
            <a:ext cx="1188720" cy="384048"/>
          </a:xfrm>
          <a:prstGeom prst="rect">
            <a:avLst/>
          </a:prstGeom>
          <a:solidFill>
            <a:srgbClr val="1F45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97680" y="5349240"/>
            <a:ext cx="1188720" cy="292608"/>
          </a:xfrm>
          <a:prstGeom prst="rect">
            <a:avLst/>
          </a:prstGeom>
          <a:noFill/>
        </p:spPr>
        <p:txBody>
          <a:bodyPr wrap="square">
            <a:spAutoFit/>
          </a:bodyPr>
          <a:lstStyle/>
          <a:p>
            <a:pPr algn="l"/>
            <a:r>
              <a:rPr sz="1100" b="0" i="0">
                <a:solidFill>
                  <a:srgbClr val="FFFFFF"/>
                </a:solidFill>
                <a:latin typeface="Calibri"/>
              </a:rPr>
              <a:t>11.8%</a:t>
            </a:r>
          </a:p>
        </p:txBody>
      </p:sp>
      <p:sp>
        <p:nvSpPr>
          <p:cNvPr id="65" name="Rectangle 64"/>
          <p:cNvSpPr/>
          <p:nvPr/>
        </p:nvSpPr>
        <p:spPr>
          <a:xfrm>
            <a:off x="5852160" y="1325880"/>
            <a:ext cx="6035040" cy="44805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943600" y="1371600"/>
            <a:ext cx="5852160" cy="384048"/>
          </a:xfrm>
          <a:prstGeom prst="rect">
            <a:avLst/>
          </a:prstGeom>
          <a:noFill/>
        </p:spPr>
        <p:txBody>
          <a:bodyPr wrap="square">
            <a:spAutoFit/>
          </a:bodyPr>
          <a:lstStyle/>
          <a:p>
            <a:pPr algn="l"/>
            <a:r>
              <a:rPr sz="1400" b="1" i="0">
                <a:solidFill>
                  <a:srgbClr val="1A3A5C"/>
                </a:solidFill>
                <a:latin typeface="Calibri"/>
              </a:rPr>
              <a:t>Top Feature Importances (RF)</a:t>
            </a:r>
          </a:p>
        </p:txBody>
      </p:sp>
      <p:sp>
        <p:nvSpPr>
          <p:cNvPr id="67" name="TextBox 66"/>
          <p:cNvSpPr txBox="1"/>
          <p:nvPr/>
        </p:nvSpPr>
        <p:spPr>
          <a:xfrm>
            <a:off x="5943600" y="1874520"/>
            <a:ext cx="1828800" cy="347472"/>
          </a:xfrm>
          <a:prstGeom prst="rect">
            <a:avLst/>
          </a:prstGeom>
          <a:noFill/>
        </p:spPr>
        <p:txBody>
          <a:bodyPr wrap="square">
            <a:spAutoFit/>
          </a:bodyPr>
          <a:lstStyle/>
          <a:p>
            <a:pPr algn="l"/>
            <a:r>
              <a:rPr sz="1200" b="1" i="0">
                <a:solidFill>
                  <a:srgbClr val="1A3A5C"/>
                </a:solidFill>
                <a:latin typeface="Calibri"/>
              </a:rPr>
              <a:t>I_imbalance</a:t>
            </a:r>
          </a:p>
        </p:txBody>
      </p:sp>
      <p:sp>
        <p:nvSpPr>
          <p:cNvPr id="68" name="Rectangle 67"/>
          <p:cNvSpPr/>
          <p:nvPr/>
        </p:nvSpPr>
        <p:spPr>
          <a:xfrm>
            <a:off x="7818120" y="1929384"/>
            <a:ext cx="3374136" cy="292608"/>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237976" y="1929384"/>
            <a:ext cx="731520" cy="292608"/>
          </a:xfrm>
          <a:prstGeom prst="rect">
            <a:avLst/>
          </a:prstGeom>
          <a:noFill/>
        </p:spPr>
        <p:txBody>
          <a:bodyPr wrap="square">
            <a:spAutoFit/>
          </a:bodyPr>
          <a:lstStyle/>
          <a:p>
            <a:pPr algn="l"/>
            <a:r>
              <a:rPr sz="1100" b="0" i="0">
                <a:solidFill>
                  <a:srgbClr val="404040"/>
                </a:solidFill>
                <a:latin typeface="Calibri"/>
              </a:rPr>
              <a:t>0.287</a:t>
            </a:r>
          </a:p>
        </p:txBody>
      </p:sp>
      <p:sp>
        <p:nvSpPr>
          <p:cNvPr id="70" name="TextBox 69"/>
          <p:cNvSpPr txBox="1"/>
          <p:nvPr/>
        </p:nvSpPr>
        <p:spPr>
          <a:xfrm>
            <a:off x="5943600" y="2258568"/>
            <a:ext cx="5760720" cy="256032"/>
          </a:xfrm>
          <a:prstGeom prst="rect">
            <a:avLst/>
          </a:prstGeom>
          <a:noFill/>
        </p:spPr>
        <p:txBody>
          <a:bodyPr wrap="square">
            <a:spAutoFit/>
          </a:bodyPr>
          <a:lstStyle/>
          <a:p>
            <a:pPr algn="l"/>
            <a:r>
              <a:rPr sz="1000" b="0" i="1">
                <a:solidFill>
                  <a:srgbClr val="404040"/>
                </a:solidFill>
                <a:latin typeface="Calibri"/>
              </a:rPr>
              <a:t>Primary bypass signature</a:t>
            </a:r>
          </a:p>
        </p:txBody>
      </p:sp>
      <p:sp>
        <p:nvSpPr>
          <p:cNvPr id="71" name="TextBox 70"/>
          <p:cNvSpPr txBox="1"/>
          <p:nvPr/>
        </p:nvSpPr>
        <p:spPr>
          <a:xfrm>
            <a:off x="5943600" y="2624328"/>
            <a:ext cx="1828800" cy="347472"/>
          </a:xfrm>
          <a:prstGeom prst="rect">
            <a:avLst/>
          </a:prstGeom>
          <a:noFill/>
        </p:spPr>
        <p:txBody>
          <a:bodyPr wrap="square">
            <a:spAutoFit/>
          </a:bodyPr>
          <a:lstStyle/>
          <a:p>
            <a:pPr algn="l"/>
            <a:r>
              <a:rPr sz="1200" b="1" i="0">
                <a:solidFill>
                  <a:srgbClr val="1A3A5C"/>
                </a:solidFill>
                <a:latin typeface="Calibri"/>
              </a:rPr>
              <a:t>I_L1_zero</a:t>
            </a:r>
          </a:p>
        </p:txBody>
      </p:sp>
      <p:sp>
        <p:nvSpPr>
          <p:cNvPr id="72" name="Rectangle 71"/>
          <p:cNvSpPr/>
          <p:nvPr/>
        </p:nvSpPr>
        <p:spPr>
          <a:xfrm>
            <a:off x="7818120" y="2679192"/>
            <a:ext cx="1928077" cy="292608"/>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91917" y="2679192"/>
            <a:ext cx="731520" cy="292608"/>
          </a:xfrm>
          <a:prstGeom prst="rect">
            <a:avLst/>
          </a:prstGeom>
          <a:noFill/>
        </p:spPr>
        <p:txBody>
          <a:bodyPr wrap="square">
            <a:spAutoFit/>
          </a:bodyPr>
          <a:lstStyle/>
          <a:p>
            <a:pPr algn="l"/>
            <a:r>
              <a:rPr sz="1100" b="0" i="0">
                <a:solidFill>
                  <a:srgbClr val="404040"/>
                </a:solidFill>
                <a:latin typeface="Calibri"/>
              </a:rPr>
              <a:t>0.164</a:t>
            </a:r>
          </a:p>
        </p:txBody>
      </p:sp>
      <p:sp>
        <p:nvSpPr>
          <p:cNvPr id="74" name="TextBox 73"/>
          <p:cNvSpPr txBox="1"/>
          <p:nvPr/>
        </p:nvSpPr>
        <p:spPr>
          <a:xfrm>
            <a:off x="5943600" y="3008376"/>
            <a:ext cx="5760720" cy="256032"/>
          </a:xfrm>
          <a:prstGeom prst="rect">
            <a:avLst/>
          </a:prstGeom>
          <a:noFill/>
        </p:spPr>
        <p:txBody>
          <a:bodyPr wrap="square">
            <a:spAutoFit/>
          </a:bodyPr>
          <a:lstStyle/>
          <a:p>
            <a:pPr algn="l"/>
            <a:r>
              <a:rPr sz="1000" b="0" i="1">
                <a:solidFill>
                  <a:srgbClr val="404040"/>
                </a:solidFill>
                <a:latin typeface="Calibri"/>
              </a:rPr>
              <a:t>Full L1 bypass flag</a:t>
            </a:r>
          </a:p>
        </p:txBody>
      </p:sp>
      <p:sp>
        <p:nvSpPr>
          <p:cNvPr id="75" name="TextBox 74"/>
          <p:cNvSpPr txBox="1"/>
          <p:nvPr/>
        </p:nvSpPr>
        <p:spPr>
          <a:xfrm>
            <a:off x="5943600" y="3374136"/>
            <a:ext cx="1828800" cy="347472"/>
          </a:xfrm>
          <a:prstGeom prst="rect">
            <a:avLst/>
          </a:prstGeom>
          <a:noFill/>
        </p:spPr>
        <p:txBody>
          <a:bodyPr wrap="square">
            <a:spAutoFit/>
          </a:bodyPr>
          <a:lstStyle/>
          <a:p>
            <a:pPr algn="l"/>
            <a:r>
              <a:rPr sz="1200" b="1" i="0">
                <a:solidFill>
                  <a:srgbClr val="1A3A5C"/>
                </a:solidFill>
                <a:latin typeface="Calibri"/>
              </a:rPr>
              <a:t>I_L2_zero</a:t>
            </a:r>
          </a:p>
        </p:txBody>
      </p:sp>
      <p:sp>
        <p:nvSpPr>
          <p:cNvPr id="76" name="Rectangle 75"/>
          <p:cNvSpPr/>
          <p:nvPr/>
        </p:nvSpPr>
        <p:spPr>
          <a:xfrm>
            <a:off x="7818120" y="3429000"/>
            <a:ext cx="1857538" cy="292608"/>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721378" y="3429000"/>
            <a:ext cx="731520" cy="292608"/>
          </a:xfrm>
          <a:prstGeom prst="rect">
            <a:avLst/>
          </a:prstGeom>
          <a:noFill/>
        </p:spPr>
        <p:txBody>
          <a:bodyPr wrap="square">
            <a:spAutoFit/>
          </a:bodyPr>
          <a:lstStyle/>
          <a:p>
            <a:pPr algn="l"/>
            <a:r>
              <a:rPr sz="1100" b="0" i="0">
                <a:solidFill>
                  <a:srgbClr val="404040"/>
                </a:solidFill>
                <a:latin typeface="Calibri"/>
              </a:rPr>
              <a:t>0.158</a:t>
            </a:r>
          </a:p>
        </p:txBody>
      </p:sp>
      <p:sp>
        <p:nvSpPr>
          <p:cNvPr id="78" name="TextBox 77"/>
          <p:cNvSpPr txBox="1"/>
          <p:nvPr/>
        </p:nvSpPr>
        <p:spPr>
          <a:xfrm>
            <a:off x="5943600" y="3758184"/>
            <a:ext cx="5760720" cy="256032"/>
          </a:xfrm>
          <a:prstGeom prst="rect">
            <a:avLst/>
          </a:prstGeom>
          <a:noFill/>
        </p:spPr>
        <p:txBody>
          <a:bodyPr wrap="square">
            <a:spAutoFit/>
          </a:bodyPr>
          <a:lstStyle/>
          <a:p>
            <a:pPr algn="l"/>
            <a:r>
              <a:rPr sz="1000" b="0" i="1">
                <a:solidFill>
                  <a:srgbClr val="404040"/>
                </a:solidFill>
                <a:latin typeface="Calibri"/>
              </a:rPr>
              <a:t>Full L2 bypass flag</a:t>
            </a:r>
          </a:p>
        </p:txBody>
      </p:sp>
      <p:sp>
        <p:nvSpPr>
          <p:cNvPr id="79" name="TextBox 78"/>
          <p:cNvSpPr txBox="1"/>
          <p:nvPr/>
        </p:nvSpPr>
        <p:spPr>
          <a:xfrm>
            <a:off x="5943600" y="4123944"/>
            <a:ext cx="1828800" cy="347472"/>
          </a:xfrm>
          <a:prstGeom prst="rect">
            <a:avLst/>
          </a:prstGeom>
          <a:noFill/>
        </p:spPr>
        <p:txBody>
          <a:bodyPr wrap="square">
            <a:spAutoFit/>
          </a:bodyPr>
          <a:lstStyle/>
          <a:p>
            <a:pPr algn="l"/>
            <a:r>
              <a:rPr sz="1200" b="1" i="0">
                <a:solidFill>
                  <a:srgbClr val="1A3A5C"/>
                </a:solidFill>
                <a:latin typeface="Calibri"/>
              </a:rPr>
              <a:t>I_L3_zero</a:t>
            </a:r>
          </a:p>
        </p:txBody>
      </p:sp>
      <p:sp>
        <p:nvSpPr>
          <p:cNvPr id="80" name="Rectangle 79"/>
          <p:cNvSpPr/>
          <p:nvPr/>
        </p:nvSpPr>
        <p:spPr>
          <a:xfrm>
            <a:off x="7818120" y="4178808"/>
            <a:ext cx="1751729" cy="292608"/>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615569" y="4178808"/>
            <a:ext cx="731520" cy="292608"/>
          </a:xfrm>
          <a:prstGeom prst="rect">
            <a:avLst/>
          </a:prstGeom>
          <a:noFill/>
        </p:spPr>
        <p:txBody>
          <a:bodyPr wrap="square">
            <a:spAutoFit/>
          </a:bodyPr>
          <a:lstStyle/>
          <a:p>
            <a:pPr algn="l"/>
            <a:r>
              <a:rPr sz="1100" b="0" i="0">
                <a:solidFill>
                  <a:srgbClr val="404040"/>
                </a:solidFill>
                <a:latin typeface="Calibri"/>
              </a:rPr>
              <a:t>0.149</a:t>
            </a:r>
          </a:p>
        </p:txBody>
      </p:sp>
      <p:sp>
        <p:nvSpPr>
          <p:cNvPr id="82" name="TextBox 81"/>
          <p:cNvSpPr txBox="1"/>
          <p:nvPr/>
        </p:nvSpPr>
        <p:spPr>
          <a:xfrm>
            <a:off x="5943600" y="4507992"/>
            <a:ext cx="5760720" cy="256032"/>
          </a:xfrm>
          <a:prstGeom prst="rect">
            <a:avLst/>
          </a:prstGeom>
          <a:noFill/>
        </p:spPr>
        <p:txBody>
          <a:bodyPr wrap="square">
            <a:spAutoFit/>
          </a:bodyPr>
          <a:lstStyle/>
          <a:p>
            <a:pPr algn="l"/>
            <a:r>
              <a:rPr sz="1000" b="0" i="1">
                <a:solidFill>
                  <a:srgbClr val="404040"/>
                </a:solidFill>
                <a:latin typeface="Calibri"/>
              </a:rPr>
              <a:t>Full L3 bypass flag</a:t>
            </a:r>
          </a:p>
        </p:txBody>
      </p:sp>
      <p:sp>
        <p:nvSpPr>
          <p:cNvPr id="83" name="TextBox 82"/>
          <p:cNvSpPr txBox="1"/>
          <p:nvPr/>
        </p:nvSpPr>
        <p:spPr>
          <a:xfrm>
            <a:off x="5943600" y="4873752"/>
            <a:ext cx="1828800" cy="347472"/>
          </a:xfrm>
          <a:prstGeom prst="rect">
            <a:avLst/>
          </a:prstGeom>
          <a:noFill/>
        </p:spPr>
        <p:txBody>
          <a:bodyPr wrap="square">
            <a:spAutoFit/>
          </a:bodyPr>
          <a:lstStyle/>
          <a:p>
            <a:pPr algn="l"/>
            <a:r>
              <a:rPr sz="1200" b="1" i="0">
                <a:solidFill>
                  <a:srgbClr val="1A3A5C"/>
                </a:solidFill>
                <a:latin typeface="Calibri"/>
              </a:rPr>
              <a:t>P_per_I</a:t>
            </a:r>
          </a:p>
        </p:txBody>
      </p:sp>
      <p:sp>
        <p:nvSpPr>
          <p:cNvPr id="84" name="Rectangle 83"/>
          <p:cNvSpPr/>
          <p:nvPr/>
        </p:nvSpPr>
        <p:spPr>
          <a:xfrm>
            <a:off x="7818120" y="4928616"/>
            <a:ext cx="1022821" cy="292608"/>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886661" y="4928616"/>
            <a:ext cx="731520" cy="292608"/>
          </a:xfrm>
          <a:prstGeom prst="rect">
            <a:avLst/>
          </a:prstGeom>
          <a:noFill/>
        </p:spPr>
        <p:txBody>
          <a:bodyPr wrap="square">
            <a:spAutoFit/>
          </a:bodyPr>
          <a:lstStyle/>
          <a:p>
            <a:pPr algn="l"/>
            <a:r>
              <a:rPr sz="1100" b="0" i="0">
                <a:solidFill>
                  <a:srgbClr val="404040"/>
                </a:solidFill>
                <a:latin typeface="Calibri"/>
              </a:rPr>
              <a:t>0.087</a:t>
            </a:r>
          </a:p>
        </p:txBody>
      </p:sp>
      <p:sp>
        <p:nvSpPr>
          <p:cNvPr id="86" name="TextBox 85"/>
          <p:cNvSpPr txBox="1"/>
          <p:nvPr/>
        </p:nvSpPr>
        <p:spPr>
          <a:xfrm>
            <a:off x="5943600" y="5257800"/>
            <a:ext cx="5760720" cy="256032"/>
          </a:xfrm>
          <a:prstGeom prst="rect">
            <a:avLst/>
          </a:prstGeom>
          <a:noFill/>
        </p:spPr>
        <p:txBody>
          <a:bodyPr wrap="square">
            <a:spAutoFit/>
          </a:bodyPr>
          <a:lstStyle/>
          <a:p>
            <a:pPr algn="l"/>
            <a:r>
              <a:rPr sz="1000" b="0" i="1">
                <a:solidFill>
                  <a:srgbClr val="404040"/>
                </a:solidFill>
                <a:latin typeface="Calibri"/>
              </a:rPr>
              <a:t>Power/current ratio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Results &amp; Analysis</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i="0">
                <a:solidFill>
                  <a:srgbClr val="C49A22"/>
                </a:solidFill>
                <a:latin typeface="Calibri"/>
              </a:rPr>
              <a:t>Model Performance on Test Set (32,086 samples)</a:t>
            </a:r>
          </a:p>
        </p:txBody>
      </p:sp>
      <p:sp>
        <p:nvSpPr>
          <p:cNvPr id="5" name="Rectangle 4"/>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8" name="TextBox 7"/>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12 / 17</a:t>
            </a:r>
          </a:p>
        </p:txBody>
      </p:sp>
      <p:sp>
        <p:nvSpPr>
          <p:cNvPr id="9" name="Rectangle 8"/>
          <p:cNvSpPr/>
          <p:nvPr/>
        </p:nvSpPr>
        <p:spPr>
          <a:xfrm>
            <a:off x="365760" y="1417320"/>
            <a:ext cx="3200400" cy="210312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508760"/>
            <a:ext cx="3200400" cy="502920"/>
          </a:xfrm>
          <a:prstGeom prst="rect">
            <a:avLst/>
          </a:prstGeom>
          <a:noFill/>
        </p:spPr>
        <p:txBody>
          <a:bodyPr wrap="square">
            <a:spAutoFit/>
          </a:bodyPr>
          <a:lstStyle/>
          <a:p>
            <a:pPr algn="ctr"/>
            <a:r>
              <a:rPr sz="2000" b="1" i="0">
                <a:solidFill>
                  <a:srgbClr val="1A3A5C"/>
                </a:solidFill>
                <a:latin typeface="Calibri"/>
              </a:rPr>
              <a:t>AUC</a:t>
            </a:r>
          </a:p>
        </p:txBody>
      </p:sp>
      <p:sp>
        <p:nvSpPr>
          <p:cNvPr id="11" name="TextBox 10"/>
          <p:cNvSpPr txBox="1"/>
          <p:nvPr/>
        </p:nvSpPr>
        <p:spPr>
          <a:xfrm>
            <a:off x="365760" y="2011680"/>
            <a:ext cx="3200400" cy="1005840"/>
          </a:xfrm>
          <a:prstGeom prst="rect">
            <a:avLst/>
          </a:prstGeom>
          <a:noFill/>
        </p:spPr>
        <p:txBody>
          <a:bodyPr wrap="square">
            <a:spAutoFit/>
          </a:bodyPr>
          <a:lstStyle/>
          <a:p>
            <a:pPr algn="ctr"/>
            <a:r>
              <a:rPr sz="5200" b="1" i="0">
                <a:solidFill>
                  <a:srgbClr val="1A3A5C"/>
                </a:solidFill>
                <a:latin typeface="Calibri"/>
              </a:rPr>
              <a:t>1.0000</a:t>
            </a:r>
          </a:p>
        </p:txBody>
      </p:sp>
      <p:sp>
        <p:nvSpPr>
          <p:cNvPr id="12" name="Rectangle 11"/>
          <p:cNvSpPr/>
          <p:nvPr/>
        </p:nvSpPr>
        <p:spPr>
          <a:xfrm>
            <a:off x="3840480" y="1417320"/>
            <a:ext cx="3200400" cy="21031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0" y="1508760"/>
            <a:ext cx="3200400" cy="502920"/>
          </a:xfrm>
          <a:prstGeom prst="rect">
            <a:avLst/>
          </a:prstGeom>
          <a:noFill/>
        </p:spPr>
        <p:txBody>
          <a:bodyPr wrap="square">
            <a:spAutoFit/>
          </a:bodyPr>
          <a:lstStyle/>
          <a:p>
            <a:pPr algn="ctr"/>
            <a:r>
              <a:rPr sz="1600" b="1" i="0">
                <a:solidFill>
                  <a:srgbClr val="FFFFFF"/>
                </a:solidFill>
                <a:latin typeface="Calibri"/>
              </a:rPr>
              <a:t>False Positives</a:t>
            </a:r>
          </a:p>
        </p:txBody>
      </p:sp>
      <p:sp>
        <p:nvSpPr>
          <p:cNvPr id="14" name="TextBox 13"/>
          <p:cNvSpPr txBox="1"/>
          <p:nvPr/>
        </p:nvSpPr>
        <p:spPr>
          <a:xfrm>
            <a:off x="3840480" y="2011680"/>
            <a:ext cx="3200400" cy="1005840"/>
          </a:xfrm>
          <a:prstGeom prst="rect">
            <a:avLst/>
          </a:prstGeom>
          <a:noFill/>
        </p:spPr>
        <p:txBody>
          <a:bodyPr wrap="square">
            <a:spAutoFit/>
          </a:bodyPr>
          <a:lstStyle/>
          <a:p>
            <a:pPr algn="ctr"/>
            <a:r>
              <a:rPr sz="5200" b="1" i="0">
                <a:solidFill>
                  <a:srgbClr val="C49A22"/>
                </a:solidFill>
                <a:latin typeface="Calibri"/>
              </a:rPr>
              <a:t>0</a:t>
            </a:r>
          </a:p>
        </p:txBody>
      </p:sp>
      <p:sp>
        <p:nvSpPr>
          <p:cNvPr id="15" name="Rectangle 14"/>
          <p:cNvSpPr/>
          <p:nvPr/>
        </p:nvSpPr>
        <p:spPr>
          <a:xfrm>
            <a:off x="7315200" y="1417320"/>
            <a:ext cx="3200400" cy="21031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508760"/>
            <a:ext cx="3200400" cy="502920"/>
          </a:xfrm>
          <a:prstGeom prst="rect">
            <a:avLst/>
          </a:prstGeom>
          <a:noFill/>
        </p:spPr>
        <p:txBody>
          <a:bodyPr wrap="square">
            <a:spAutoFit/>
          </a:bodyPr>
          <a:lstStyle/>
          <a:p>
            <a:pPr algn="ctr"/>
            <a:r>
              <a:rPr sz="1600" b="1" i="0">
                <a:solidFill>
                  <a:srgbClr val="FFFFFF"/>
                </a:solidFill>
                <a:latin typeface="Calibri"/>
              </a:rPr>
              <a:t>False Negatives</a:t>
            </a:r>
          </a:p>
        </p:txBody>
      </p:sp>
      <p:sp>
        <p:nvSpPr>
          <p:cNvPr id="17" name="TextBox 16"/>
          <p:cNvSpPr txBox="1"/>
          <p:nvPr/>
        </p:nvSpPr>
        <p:spPr>
          <a:xfrm>
            <a:off x="7315200" y="2011680"/>
            <a:ext cx="3200400" cy="1005840"/>
          </a:xfrm>
          <a:prstGeom prst="rect">
            <a:avLst/>
          </a:prstGeom>
          <a:noFill/>
        </p:spPr>
        <p:txBody>
          <a:bodyPr wrap="square">
            <a:spAutoFit/>
          </a:bodyPr>
          <a:lstStyle/>
          <a:p>
            <a:pPr algn="ctr"/>
            <a:r>
              <a:rPr sz="5200" b="1" i="0">
                <a:solidFill>
                  <a:srgbClr val="C49A22"/>
                </a:solidFill>
                <a:latin typeface="Calibri"/>
              </a:rPr>
              <a:t>0</a:t>
            </a:r>
          </a:p>
        </p:txBody>
      </p:sp>
      <p:sp>
        <p:nvSpPr>
          <p:cNvPr id="18" name="Rectangle 17"/>
          <p:cNvSpPr/>
          <p:nvPr/>
        </p:nvSpPr>
        <p:spPr>
          <a:xfrm>
            <a:off x="365760" y="3657600"/>
            <a:ext cx="11430000" cy="4572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840480"/>
            <a:ext cx="3383280" cy="365760"/>
          </a:xfrm>
          <a:prstGeom prst="rect">
            <a:avLst/>
          </a:prstGeom>
          <a:noFill/>
        </p:spPr>
        <p:txBody>
          <a:bodyPr wrap="square">
            <a:spAutoFit/>
          </a:bodyPr>
          <a:lstStyle/>
          <a:p>
            <a:pPr algn="ctr"/>
            <a:r>
              <a:rPr sz="1200" b="1" i="0">
                <a:solidFill>
                  <a:srgbClr val="C49A22"/>
                </a:solidFill>
                <a:latin typeface="Calibri"/>
              </a:rPr>
              <a:t>Classifier</a:t>
            </a:r>
          </a:p>
        </p:txBody>
      </p:sp>
      <p:sp>
        <p:nvSpPr>
          <p:cNvPr id="20" name="TextBox 19"/>
          <p:cNvSpPr txBox="1"/>
          <p:nvPr/>
        </p:nvSpPr>
        <p:spPr>
          <a:xfrm>
            <a:off x="3840480" y="3840480"/>
            <a:ext cx="1920240" cy="365760"/>
          </a:xfrm>
          <a:prstGeom prst="rect">
            <a:avLst/>
          </a:prstGeom>
          <a:noFill/>
        </p:spPr>
        <p:txBody>
          <a:bodyPr wrap="square">
            <a:spAutoFit/>
          </a:bodyPr>
          <a:lstStyle/>
          <a:p>
            <a:pPr algn="ctr"/>
            <a:r>
              <a:rPr sz="1200" b="1" i="0">
                <a:solidFill>
                  <a:srgbClr val="C49A22"/>
                </a:solidFill>
                <a:latin typeface="Calibri"/>
              </a:rPr>
              <a:t>AUC</a:t>
            </a:r>
          </a:p>
        </p:txBody>
      </p:sp>
      <p:sp>
        <p:nvSpPr>
          <p:cNvPr id="21" name="TextBox 20"/>
          <p:cNvSpPr txBox="1"/>
          <p:nvPr/>
        </p:nvSpPr>
        <p:spPr>
          <a:xfrm>
            <a:off x="5943600" y="3840480"/>
            <a:ext cx="1691640" cy="365760"/>
          </a:xfrm>
          <a:prstGeom prst="rect">
            <a:avLst/>
          </a:prstGeom>
          <a:noFill/>
        </p:spPr>
        <p:txBody>
          <a:bodyPr wrap="square">
            <a:spAutoFit/>
          </a:bodyPr>
          <a:lstStyle/>
          <a:p>
            <a:pPr algn="ctr"/>
            <a:r>
              <a:rPr sz="1200" b="1" i="0">
                <a:solidFill>
                  <a:srgbClr val="C49A22"/>
                </a:solidFill>
                <a:latin typeface="Calibri"/>
              </a:rPr>
              <a:t>Precision</a:t>
            </a:r>
          </a:p>
        </p:txBody>
      </p:sp>
      <p:sp>
        <p:nvSpPr>
          <p:cNvPr id="22" name="TextBox 21"/>
          <p:cNvSpPr txBox="1"/>
          <p:nvPr/>
        </p:nvSpPr>
        <p:spPr>
          <a:xfrm>
            <a:off x="7772400" y="3840480"/>
            <a:ext cx="1691640" cy="365760"/>
          </a:xfrm>
          <a:prstGeom prst="rect">
            <a:avLst/>
          </a:prstGeom>
          <a:noFill/>
        </p:spPr>
        <p:txBody>
          <a:bodyPr wrap="square">
            <a:spAutoFit/>
          </a:bodyPr>
          <a:lstStyle/>
          <a:p>
            <a:pPr algn="ctr"/>
            <a:r>
              <a:rPr sz="1200" b="1" i="0">
                <a:solidFill>
                  <a:srgbClr val="C49A22"/>
                </a:solidFill>
                <a:latin typeface="Calibri"/>
              </a:rPr>
              <a:t>Recall</a:t>
            </a:r>
          </a:p>
        </p:txBody>
      </p:sp>
      <p:sp>
        <p:nvSpPr>
          <p:cNvPr id="23" name="TextBox 22"/>
          <p:cNvSpPr txBox="1"/>
          <p:nvPr/>
        </p:nvSpPr>
        <p:spPr>
          <a:xfrm>
            <a:off x="9601200" y="3840480"/>
            <a:ext cx="1828800" cy="365760"/>
          </a:xfrm>
          <a:prstGeom prst="rect">
            <a:avLst/>
          </a:prstGeom>
          <a:noFill/>
        </p:spPr>
        <p:txBody>
          <a:bodyPr wrap="square">
            <a:spAutoFit/>
          </a:bodyPr>
          <a:lstStyle/>
          <a:p>
            <a:pPr algn="ctr"/>
            <a:r>
              <a:rPr sz="1200" b="1" i="0">
                <a:solidFill>
                  <a:srgbClr val="C49A22"/>
                </a:solidFill>
                <a:latin typeface="Calibri"/>
              </a:rPr>
              <a:t>F1-Score</a:t>
            </a:r>
          </a:p>
        </p:txBody>
      </p:sp>
      <p:sp>
        <p:nvSpPr>
          <p:cNvPr id="24" name="Rectangle 23"/>
          <p:cNvSpPr/>
          <p:nvPr/>
        </p:nvSpPr>
        <p:spPr>
          <a:xfrm>
            <a:off x="365760" y="4251960"/>
            <a:ext cx="3383280" cy="43891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4306824"/>
            <a:ext cx="3291840" cy="329184"/>
          </a:xfrm>
          <a:prstGeom prst="rect">
            <a:avLst/>
          </a:prstGeom>
          <a:noFill/>
        </p:spPr>
        <p:txBody>
          <a:bodyPr wrap="square">
            <a:spAutoFit/>
          </a:bodyPr>
          <a:lstStyle/>
          <a:p>
            <a:pPr algn="ctr"/>
            <a:r>
              <a:rPr sz="1200" b="0" i="0">
                <a:solidFill>
                  <a:srgbClr val="FFFFFF"/>
                </a:solidFill>
                <a:latin typeface="Calibri"/>
              </a:rPr>
              <a:t>RandomForestClassifier</a:t>
            </a:r>
          </a:p>
        </p:txBody>
      </p:sp>
      <p:sp>
        <p:nvSpPr>
          <p:cNvPr id="26" name="Rectangle 25"/>
          <p:cNvSpPr/>
          <p:nvPr/>
        </p:nvSpPr>
        <p:spPr>
          <a:xfrm>
            <a:off x="3840480" y="4251960"/>
            <a:ext cx="1920240" cy="43891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86200" y="4306824"/>
            <a:ext cx="1828800" cy="329184"/>
          </a:xfrm>
          <a:prstGeom prst="rect">
            <a:avLst/>
          </a:prstGeom>
          <a:noFill/>
        </p:spPr>
        <p:txBody>
          <a:bodyPr wrap="square">
            <a:spAutoFit/>
          </a:bodyPr>
          <a:lstStyle/>
          <a:p>
            <a:pPr algn="ctr"/>
            <a:r>
              <a:rPr sz="1200" b="0" i="0">
                <a:solidFill>
                  <a:srgbClr val="FFFFFF"/>
                </a:solidFill>
                <a:latin typeface="Calibri"/>
              </a:rPr>
              <a:t>0.9998</a:t>
            </a:r>
          </a:p>
        </p:txBody>
      </p:sp>
      <p:sp>
        <p:nvSpPr>
          <p:cNvPr id="28" name="Rectangle 27"/>
          <p:cNvSpPr/>
          <p:nvPr/>
        </p:nvSpPr>
        <p:spPr>
          <a:xfrm>
            <a:off x="5943600" y="4251960"/>
            <a:ext cx="1691640" cy="43891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89320" y="4306824"/>
            <a:ext cx="1600200" cy="329184"/>
          </a:xfrm>
          <a:prstGeom prst="rect">
            <a:avLst/>
          </a:prstGeom>
          <a:noFill/>
        </p:spPr>
        <p:txBody>
          <a:bodyPr wrap="square">
            <a:spAutoFit/>
          </a:bodyPr>
          <a:lstStyle/>
          <a:p>
            <a:pPr algn="ctr"/>
            <a:r>
              <a:rPr sz="1200" b="0" i="0">
                <a:solidFill>
                  <a:srgbClr val="FFFFFF"/>
                </a:solidFill>
                <a:latin typeface="Calibri"/>
              </a:rPr>
              <a:t>0.9997</a:t>
            </a:r>
          </a:p>
        </p:txBody>
      </p:sp>
      <p:sp>
        <p:nvSpPr>
          <p:cNvPr id="30" name="Rectangle 29"/>
          <p:cNvSpPr/>
          <p:nvPr/>
        </p:nvSpPr>
        <p:spPr>
          <a:xfrm>
            <a:off x="7772400" y="4251960"/>
            <a:ext cx="1691640" cy="43891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18120" y="4306824"/>
            <a:ext cx="1600200" cy="329184"/>
          </a:xfrm>
          <a:prstGeom prst="rect">
            <a:avLst/>
          </a:prstGeom>
          <a:noFill/>
        </p:spPr>
        <p:txBody>
          <a:bodyPr wrap="square">
            <a:spAutoFit/>
          </a:bodyPr>
          <a:lstStyle/>
          <a:p>
            <a:pPr algn="ctr"/>
            <a:r>
              <a:rPr sz="1200" b="0" i="0">
                <a:solidFill>
                  <a:srgbClr val="FFFFFF"/>
                </a:solidFill>
                <a:latin typeface="Calibri"/>
              </a:rPr>
              <a:t>0.9996</a:t>
            </a:r>
          </a:p>
        </p:txBody>
      </p:sp>
      <p:sp>
        <p:nvSpPr>
          <p:cNvPr id="32" name="Rectangle 31"/>
          <p:cNvSpPr/>
          <p:nvPr/>
        </p:nvSpPr>
        <p:spPr>
          <a:xfrm>
            <a:off x="9601200" y="4251960"/>
            <a:ext cx="1828800" cy="43891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46920" y="4306824"/>
            <a:ext cx="1737360" cy="329184"/>
          </a:xfrm>
          <a:prstGeom prst="rect">
            <a:avLst/>
          </a:prstGeom>
          <a:noFill/>
        </p:spPr>
        <p:txBody>
          <a:bodyPr wrap="square">
            <a:spAutoFit/>
          </a:bodyPr>
          <a:lstStyle/>
          <a:p>
            <a:pPr algn="ctr"/>
            <a:r>
              <a:rPr sz="1200" b="0" i="0">
                <a:solidFill>
                  <a:srgbClr val="FFFFFF"/>
                </a:solidFill>
                <a:latin typeface="Calibri"/>
              </a:rPr>
              <a:t>0.9997</a:t>
            </a:r>
          </a:p>
        </p:txBody>
      </p:sp>
      <p:sp>
        <p:nvSpPr>
          <p:cNvPr id="34" name="Rectangle 33"/>
          <p:cNvSpPr/>
          <p:nvPr/>
        </p:nvSpPr>
        <p:spPr>
          <a:xfrm>
            <a:off x="365760" y="4754880"/>
            <a:ext cx="3383280" cy="43891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4809744"/>
            <a:ext cx="3291840" cy="329184"/>
          </a:xfrm>
          <a:prstGeom prst="rect">
            <a:avLst/>
          </a:prstGeom>
          <a:noFill/>
        </p:spPr>
        <p:txBody>
          <a:bodyPr wrap="square">
            <a:spAutoFit/>
          </a:bodyPr>
          <a:lstStyle/>
          <a:p>
            <a:pPr algn="ctr"/>
            <a:r>
              <a:rPr sz="1200" b="0" i="0">
                <a:solidFill>
                  <a:srgbClr val="FFFFFF"/>
                </a:solidFill>
                <a:latin typeface="Calibri"/>
              </a:rPr>
              <a:t>XGBClassifier</a:t>
            </a:r>
          </a:p>
        </p:txBody>
      </p:sp>
      <p:sp>
        <p:nvSpPr>
          <p:cNvPr id="36" name="Rectangle 35"/>
          <p:cNvSpPr/>
          <p:nvPr/>
        </p:nvSpPr>
        <p:spPr>
          <a:xfrm>
            <a:off x="3840480" y="4754880"/>
            <a:ext cx="1920240" cy="43891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86200" y="4809744"/>
            <a:ext cx="1828800" cy="329184"/>
          </a:xfrm>
          <a:prstGeom prst="rect">
            <a:avLst/>
          </a:prstGeom>
          <a:noFill/>
        </p:spPr>
        <p:txBody>
          <a:bodyPr wrap="square">
            <a:spAutoFit/>
          </a:bodyPr>
          <a:lstStyle/>
          <a:p>
            <a:pPr algn="ctr"/>
            <a:r>
              <a:rPr sz="1200" b="0" i="0">
                <a:solidFill>
                  <a:srgbClr val="FFFFFF"/>
                </a:solidFill>
                <a:latin typeface="Calibri"/>
              </a:rPr>
              <a:t>0.9997</a:t>
            </a:r>
          </a:p>
        </p:txBody>
      </p:sp>
      <p:sp>
        <p:nvSpPr>
          <p:cNvPr id="38" name="Rectangle 37"/>
          <p:cNvSpPr/>
          <p:nvPr/>
        </p:nvSpPr>
        <p:spPr>
          <a:xfrm>
            <a:off x="5943600" y="4754880"/>
            <a:ext cx="1691640" cy="43891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89320" y="4809744"/>
            <a:ext cx="1600200" cy="329184"/>
          </a:xfrm>
          <a:prstGeom prst="rect">
            <a:avLst/>
          </a:prstGeom>
          <a:noFill/>
        </p:spPr>
        <p:txBody>
          <a:bodyPr wrap="square">
            <a:spAutoFit/>
          </a:bodyPr>
          <a:lstStyle/>
          <a:p>
            <a:pPr algn="ctr"/>
            <a:r>
              <a:rPr sz="1200" b="0" i="0">
                <a:solidFill>
                  <a:srgbClr val="FFFFFF"/>
                </a:solidFill>
                <a:latin typeface="Calibri"/>
              </a:rPr>
              <a:t>0.9995</a:t>
            </a:r>
          </a:p>
        </p:txBody>
      </p:sp>
      <p:sp>
        <p:nvSpPr>
          <p:cNvPr id="40" name="Rectangle 39"/>
          <p:cNvSpPr/>
          <p:nvPr/>
        </p:nvSpPr>
        <p:spPr>
          <a:xfrm>
            <a:off x="7772400" y="4754880"/>
            <a:ext cx="1691640" cy="43891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18120" y="4809744"/>
            <a:ext cx="1600200" cy="329184"/>
          </a:xfrm>
          <a:prstGeom prst="rect">
            <a:avLst/>
          </a:prstGeom>
          <a:noFill/>
        </p:spPr>
        <p:txBody>
          <a:bodyPr wrap="square">
            <a:spAutoFit/>
          </a:bodyPr>
          <a:lstStyle/>
          <a:p>
            <a:pPr algn="ctr"/>
            <a:r>
              <a:rPr sz="1200" b="0" i="0">
                <a:solidFill>
                  <a:srgbClr val="FFFFFF"/>
                </a:solidFill>
                <a:latin typeface="Calibri"/>
              </a:rPr>
              <a:t>0.9994</a:t>
            </a:r>
          </a:p>
        </p:txBody>
      </p:sp>
      <p:sp>
        <p:nvSpPr>
          <p:cNvPr id="42" name="Rectangle 41"/>
          <p:cNvSpPr/>
          <p:nvPr/>
        </p:nvSpPr>
        <p:spPr>
          <a:xfrm>
            <a:off x="9601200" y="4754880"/>
            <a:ext cx="1828800" cy="438912"/>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46920" y="4809744"/>
            <a:ext cx="1737360" cy="329184"/>
          </a:xfrm>
          <a:prstGeom prst="rect">
            <a:avLst/>
          </a:prstGeom>
          <a:noFill/>
        </p:spPr>
        <p:txBody>
          <a:bodyPr wrap="square">
            <a:spAutoFit/>
          </a:bodyPr>
          <a:lstStyle/>
          <a:p>
            <a:pPr algn="ctr"/>
            <a:r>
              <a:rPr sz="1200" b="0" i="0">
                <a:solidFill>
                  <a:srgbClr val="FFFFFF"/>
                </a:solidFill>
                <a:latin typeface="Calibri"/>
              </a:rPr>
              <a:t>0.9995</a:t>
            </a:r>
          </a:p>
        </p:txBody>
      </p:sp>
      <p:sp>
        <p:nvSpPr>
          <p:cNvPr id="44" name="Rectangle 43"/>
          <p:cNvSpPr/>
          <p:nvPr/>
        </p:nvSpPr>
        <p:spPr>
          <a:xfrm>
            <a:off x="365760" y="5257800"/>
            <a:ext cx="3383280" cy="438912"/>
          </a:xfrm>
          <a:prstGeom prst="rect">
            <a:avLst/>
          </a:prstGeom>
          <a:solidFill>
            <a:srgbClr val="1E7E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5312664"/>
            <a:ext cx="3291840" cy="329184"/>
          </a:xfrm>
          <a:prstGeom prst="rect">
            <a:avLst/>
          </a:prstGeom>
          <a:noFill/>
        </p:spPr>
        <p:txBody>
          <a:bodyPr wrap="square">
            <a:spAutoFit/>
          </a:bodyPr>
          <a:lstStyle/>
          <a:p>
            <a:pPr algn="ctr"/>
            <a:r>
              <a:rPr sz="1200" b="1" i="0">
                <a:solidFill>
                  <a:srgbClr val="FFFFFF"/>
                </a:solidFill>
                <a:latin typeface="Calibri"/>
              </a:rPr>
              <a:t>VotingClassifier (ensemble)</a:t>
            </a:r>
          </a:p>
        </p:txBody>
      </p:sp>
      <p:sp>
        <p:nvSpPr>
          <p:cNvPr id="46" name="Rectangle 45"/>
          <p:cNvSpPr/>
          <p:nvPr/>
        </p:nvSpPr>
        <p:spPr>
          <a:xfrm>
            <a:off x="3840480" y="5257800"/>
            <a:ext cx="1920240" cy="438912"/>
          </a:xfrm>
          <a:prstGeom prst="rect">
            <a:avLst/>
          </a:prstGeom>
          <a:solidFill>
            <a:srgbClr val="1E7E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6200" y="5312664"/>
            <a:ext cx="1828800" cy="329184"/>
          </a:xfrm>
          <a:prstGeom prst="rect">
            <a:avLst/>
          </a:prstGeom>
          <a:noFill/>
        </p:spPr>
        <p:txBody>
          <a:bodyPr wrap="square">
            <a:spAutoFit/>
          </a:bodyPr>
          <a:lstStyle/>
          <a:p>
            <a:pPr algn="ctr"/>
            <a:r>
              <a:rPr sz="1200" b="1" i="0">
                <a:solidFill>
                  <a:srgbClr val="FFFFFF"/>
                </a:solidFill>
                <a:latin typeface="Calibri"/>
              </a:rPr>
              <a:t>1.0000</a:t>
            </a:r>
          </a:p>
        </p:txBody>
      </p:sp>
      <p:sp>
        <p:nvSpPr>
          <p:cNvPr id="48" name="Rectangle 47"/>
          <p:cNvSpPr/>
          <p:nvPr/>
        </p:nvSpPr>
        <p:spPr>
          <a:xfrm>
            <a:off x="5943600" y="5257800"/>
            <a:ext cx="1691640" cy="438912"/>
          </a:xfrm>
          <a:prstGeom prst="rect">
            <a:avLst/>
          </a:prstGeom>
          <a:solidFill>
            <a:srgbClr val="1E7E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89320" y="5312664"/>
            <a:ext cx="1600200" cy="329184"/>
          </a:xfrm>
          <a:prstGeom prst="rect">
            <a:avLst/>
          </a:prstGeom>
          <a:noFill/>
        </p:spPr>
        <p:txBody>
          <a:bodyPr wrap="square">
            <a:spAutoFit/>
          </a:bodyPr>
          <a:lstStyle/>
          <a:p>
            <a:pPr algn="ctr"/>
            <a:r>
              <a:rPr sz="1200" b="1" i="0">
                <a:solidFill>
                  <a:srgbClr val="FFFFFF"/>
                </a:solidFill>
                <a:latin typeface="Calibri"/>
              </a:rPr>
              <a:t>1.0000</a:t>
            </a:r>
          </a:p>
        </p:txBody>
      </p:sp>
      <p:sp>
        <p:nvSpPr>
          <p:cNvPr id="50" name="Rectangle 49"/>
          <p:cNvSpPr/>
          <p:nvPr/>
        </p:nvSpPr>
        <p:spPr>
          <a:xfrm>
            <a:off x="7772400" y="5257800"/>
            <a:ext cx="1691640" cy="438912"/>
          </a:xfrm>
          <a:prstGeom prst="rect">
            <a:avLst/>
          </a:prstGeom>
          <a:solidFill>
            <a:srgbClr val="1E7E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18120" y="5312664"/>
            <a:ext cx="1600200" cy="329184"/>
          </a:xfrm>
          <a:prstGeom prst="rect">
            <a:avLst/>
          </a:prstGeom>
          <a:noFill/>
        </p:spPr>
        <p:txBody>
          <a:bodyPr wrap="square">
            <a:spAutoFit/>
          </a:bodyPr>
          <a:lstStyle/>
          <a:p>
            <a:pPr algn="ctr"/>
            <a:r>
              <a:rPr sz="1200" b="1" i="0">
                <a:solidFill>
                  <a:srgbClr val="FFFFFF"/>
                </a:solidFill>
                <a:latin typeface="Calibri"/>
              </a:rPr>
              <a:t>1.0000</a:t>
            </a:r>
          </a:p>
        </p:txBody>
      </p:sp>
      <p:sp>
        <p:nvSpPr>
          <p:cNvPr id="52" name="Rectangle 51"/>
          <p:cNvSpPr/>
          <p:nvPr/>
        </p:nvSpPr>
        <p:spPr>
          <a:xfrm>
            <a:off x="9601200" y="5257800"/>
            <a:ext cx="1828800" cy="438912"/>
          </a:xfrm>
          <a:prstGeom prst="rect">
            <a:avLst/>
          </a:prstGeom>
          <a:solidFill>
            <a:srgbClr val="1E7E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20" y="5312664"/>
            <a:ext cx="1737360" cy="329184"/>
          </a:xfrm>
          <a:prstGeom prst="rect">
            <a:avLst/>
          </a:prstGeom>
          <a:noFill/>
        </p:spPr>
        <p:txBody>
          <a:bodyPr wrap="square">
            <a:spAutoFit/>
          </a:bodyPr>
          <a:lstStyle/>
          <a:p>
            <a:pPr algn="ctr"/>
            <a:r>
              <a:rPr sz="1200" b="1" i="0">
                <a:solidFill>
                  <a:srgbClr val="FFFFFF"/>
                </a:solidFill>
                <a:latin typeface="Calibri"/>
              </a:rPr>
              <a:t>1.0000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Results &amp; Analysis</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400" b="0" i="0">
                <a:solidFill>
                  <a:srgbClr val="C49A22"/>
                </a:solidFill>
                <a:latin typeface="Calibri"/>
              </a:rPr>
              <a:t>System Performance &amp; Economic Analysis</a:t>
            </a:r>
          </a:p>
        </p:txBody>
      </p:sp>
      <p:sp>
        <p:nvSpPr>
          <p:cNvPr id="5" name="Rectangle 4"/>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8" name="TextBox 7"/>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13 / 17</a:t>
            </a:r>
          </a:p>
        </p:txBody>
      </p:sp>
      <p:sp>
        <p:nvSpPr>
          <p:cNvPr id="9" name="Rectangle 8"/>
          <p:cNvSpPr/>
          <p:nvPr/>
        </p:nvSpPr>
        <p:spPr>
          <a:xfrm>
            <a:off x="274320" y="1325880"/>
            <a:ext cx="5303520" cy="457200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371600"/>
            <a:ext cx="5120640" cy="384048"/>
          </a:xfrm>
          <a:prstGeom prst="rect">
            <a:avLst/>
          </a:prstGeom>
          <a:noFill/>
        </p:spPr>
        <p:txBody>
          <a:bodyPr wrap="square">
            <a:spAutoFit/>
          </a:bodyPr>
          <a:lstStyle/>
          <a:p>
            <a:pPr algn="l"/>
            <a:r>
              <a:rPr sz="1400" b="1" i="0">
                <a:solidFill>
                  <a:srgbClr val="C49A22"/>
                </a:solidFill>
                <a:latin typeface="Calibri"/>
              </a:rPr>
              <a:t>System Performance</a:t>
            </a:r>
          </a:p>
        </p:txBody>
      </p:sp>
      <p:sp>
        <p:nvSpPr>
          <p:cNvPr id="11" name="TextBox 10"/>
          <p:cNvSpPr txBox="1"/>
          <p:nvPr/>
        </p:nvSpPr>
        <p:spPr>
          <a:xfrm>
            <a:off x="365760" y="1874520"/>
            <a:ext cx="3200400" cy="502920"/>
          </a:xfrm>
          <a:prstGeom prst="rect">
            <a:avLst/>
          </a:prstGeom>
          <a:noFill/>
        </p:spPr>
        <p:txBody>
          <a:bodyPr wrap="square">
            <a:spAutoFit/>
          </a:bodyPr>
          <a:lstStyle/>
          <a:p>
            <a:pPr algn="l"/>
            <a:r>
              <a:rPr sz="1200" b="0" i="0">
                <a:solidFill>
                  <a:srgbClr val="FFFFFF"/>
                </a:solidFill>
                <a:latin typeface="Calibri"/>
              </a:rPr>
              <a:t>Inference latency</a:t>
            </a:r>
          </a:p>
        </p:txBody>
      </p:sp>
      <p:sp>
        <p:nvSpPr>
          <p:cNvPr id="12" name="Rectangle 11"/>
          <p:cNvSpPr/>
          <p:nvPr/>
        </p:nvSpPr>
        <p:spPr>
          <a:xfrm>
            <a:off x="3611880" y="1874520"/>
            <a:ext cx="1737360" cy="4572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1938528"/>
            <a:ext cx="1737360" cy="347472"/>
          </a:xfrm>
          <a:prstGeom prst="rect">
            <a:avLst/>
          </a:prstGeom>
          <a:noFill/>
        </p:spPr>
        <p:txBody>
          <a:bodyPr wrap="square">
            <a:spAutoFit/>
          </a:bodyPr>
          <a:lstStyle/>
          <a:p>
            <a:pPr algn="ctr"/>
            <a:r>
              <a:rPr sz="1200" b="1" i="0">
                <a:solidFill>
                  <a:srgbClr val="C49A22"/>
                </a:solidFill>
                <a:latin typeface="Calibri"/>
              </a:rPr>
              <a:t>&lt; 2 ms</a:t>
            </a:r>
          </a:p>
        </p:txBody>
      </p:sp>
      <p:sp>
        <p:nvSpPr>
          <p:cNvPr id="14" name="TextBox 13"/>
          <p:cNvSpPr txBox="1"/>
          <p:nvPr/>
        </p:nvSpPr>
        <p:spPr>
          <a:xfrm>
            <a:off x="365760" y="2496312"/>
            <a:ext cx="3200400" cy="502920"/>
          </a:xfrm>
          <a:prstGeom prst="rect">
            <a:avLst/>
          </a:prstGeom>
          <a:noFill/>
        </p:spPr>
        <p:txBody>
          <a:bodyPr wrap="square">
            <a:spAutoFit/>
          </a:bodyPr>
          <a:lstStyle/>
          <a:p>
            <a:pPr algn="l"/>
            <a:r>
              <a:rPr sz="1200" b="0" i="0">
                <a:solidFill>
                  <a:srgbClr val="FFFFFF"/>
                </a:solidFill>
                <a:latin typeface="Calibri"/>
              </a:rPr>
              <a:t>Poll → alert latency</a:t>
            </a:r>
          </a:p>
        </p:txBody>
      </p:sp>
      <p:sp>
        <p:nvSpPr>
          <p:cNvPr id="15" name="Rectangle 14"/>
          <p:cNvSpPr/>
          <p:nvPr/>
        </p:nvSpPr>
        <p:spPr>
          <a:xfrm>
            <a:off x="3611880" y="2496312"/>
            <a:ext cx="1737360" cy="4572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2560320"/>
            <a:ext cx="1737360" cy="347472"/>
          </a:xfrm>
          <a:prstGeom prst="rect">
            <a:avLst/>
          </a:prstGeom>
          <a:noFill/>
        </p:spPr>
        <p:txBody>
          <a:bodyPr wrap="square">
            <a:spAutoFit/>
          </a:bodyPr>
          <a:lstStyle/>
          <a:p>
            <a:pPr algn="ctr"/>
            <a:r>
              <a:rPr sz="1200" b="1" i="0">
                <a:solidFill>
                  <a:srgbClr val="C49A22"/>
                </a:solidFill>
                <a:latin typeface="Calibri"/>
              </a:rPr>
              <a:t>&lt; 15 min</a:t>
            </a:r>
          </a:p>
        </p:txBody>
      </p:sp>
      <p:sp>
        <p:nvSpPr>
          <p:cNvPr id="17" name="TextBox 16"/>
          <p:cNvSpPr txBox="1"/>
          <p:nvPr/>
        </p:nvSpPr>
        <p:spPr>
          <a:xfrm>
            <a:off x="365760" y="3118104"/>
            <a:ext cx="3200400" cy="502920"/>
          </a:xfrm>
          <a:prstGeom prst="rect">
            <a:avLst/>
          </a:prstGeom>
          <a:noFill/>
        </p:spPr>
        <p:txBody>
          <a:bodyPr wrap="square">
            <a:spAutoFit/>
          </a:bodyPr>
          <a:lstStyle/>
          <a:p>
            <a:pPr algn="l"/>
            <a:r>
              <a:rPr sz="1200" b="0" i="0">
                <a:solidFill>
                  <a:srgbClr val="FFFFFF"/>
                </a:solidFill>
                <a:latin typeface="Calibri"/>
              </a:rPr>
              <a:t>Alert → dashboard</a:t>
            </a:r>
          </a:p>
        </p:txBody>
      </p:sp>
      <p:sp>
        <p:nvSpPr>
          <p:cNvPr id="18" name="Rectangle 17"/>
          <p:cNvSpPr/>
          <p:nvPr/>
        </p:nvSpPr>
        <p:spPr>
          <a:xfrm>
            <a:off x="3611880" y="3118104"/>
            <a:ext cx="1737360" cy="4572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182112"/>
            <a:ext cx="1737360" cy="347472"/>
          </a:xfrm>
          <a:prstGeom prst="rect">
            <a:avLst/>
          </a:prstGeom>
          <a:noFill/>
        </p:spPr>
        <p:txBody>
          <a:bodyPr wrap="square">
            <a:spAutoFit/>
          </a:bodyPr>
          <a:lstStyle/>
          <a:p>
            <a:pPr algn="ctr"/>
            <a:r>
              <a:rPr sz="1200" b="1" i="0">
                <a:solidFill>
                  <a:srgbClr val="C49A22"/>
                </a:solidFill>
                <a:latin typeface="Calibri"/>
              </a:rPr>
              <a:t>&lt; 2 seconds</a:t>
            </a:r>
          </a:p>
        </p:txBody>
      </p:sp>
      <p:sp>
        <p:nvSpPr>
          <p:cNvPr id="20" name="TextBox 19"/>
          <p:cNvSpPr txBox="1"/>
          <p:nvPr/>
        </p:nvSpPr>
        <p:spPr>
          <a:xfrm>
            <a:off x="365760" y="3739896"/>
            <a:ext cx="3200400" cy="502920"/>
          </a:xfrm>
          <a:prstGeom prst="rect">
            <a:avLst/>
          </a:prstGeom>
          <a:noFill/>
        </p:spPr>
        <p:txBody>
          <a:bodyPr wrap="square">
            <a:spAutoFit/>
          </a:bodyPr>
          <a:lstStyle/>
          <a:p>
            <a:pPr algn="l"/>
            <a:r>
              <a:rPr sz="1200" b="0" i="0">
                <a:solidFill>
                  <a:srgbClr val="FFFFFF"/>
                </a:solidFill>
                <a:latin typeface="Calibri"/>
              </a:rPr>
              <a:t>SD card writes</a:t>
            </a:r>
          </a:p>
        </p:txBody>
      </p:sp>
      <p:sp>
        <p:nvSpPr>
          <p:cNvPr id="21" name="Rectangle 20"/>
          <p:cNvSpPr/>
          <p:nvPr/>
        </p:nvSpPr>
        <p:spPr>
          <a:xfrm>
            <a:off x="3611880" y="3739896"/>
            <a:ext cx="1737360" cy="4572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11880" y="3803904"/>
            <a:ext cx="1737360" cy="347472"/>
          </a:xfrm>
          <a:prstGeom prst="rect">
            <a:avLst/>
          </a:prstGeom>
          <a:noFill/>
        </p:spPr>
        <p:txBody>
          <a:bodyPr wrap="square">
            <a:spAutoFit/>
          </a:bodyPr>
          <a:lstStyle/>
          <a:p>
            <a:pPr algn="ctr"/>
            <a:r>
              <a:rPr sz="1200" b="1" i="0">
                <a:solidFill>
                  <a:srgbClr val="C49A22"/>
                </a:solidFill>
                <a:latin typeface="Calibri"/>
              </a:rPr>
              <a:t>96 rows/day</a:t>
            </a:r>
          </a:p>
        </p:txBody>
      </p:sp>
      <p:sp>
        <p:nvSpPr>
          <p:cNvPr id="23" name="TextBox 22"/>
          <p:cNvSpPr txBox="1"/>
          <p:nvPr/>
        </p:nvSpPr>
        <p:spPr>
          <a:xfrm>
            <a:off x="365760" y="4361688"/>
            <a:ext cx="3200400" cy="502920"/>
          </a:xfrm>
          <a:prstGeom prst="rect">
            <a:avLst/>
          </a:prstGeom>
          <a:noFill/>
        </p:spPr>
        <p:txBody>
          <a:bodyPr wrap="square">
            <a:spAutoFit/>
          </a:bodyPr>
          <a:lstStyle/>
          <a:p>
            <a:pPr algn="l"/>
            <a:r>
              <a:rPr sz="1200" b="0" i="0">
                <a:solidFill>
                  <a:srgbClr val="FFFFFF"/>
                </a:solidFill>
                <a:latin typeface="Calibri"/>
              </a:rPr>
              <a:t>Cloud storage/year</a:t>
            </a:r>
          </a:p>
        </p:txBody>
      </p:sp>
      <p:sp>
        <p:nvSpPr>
          <p:cNvPr id="24" name="Rectangle 23"/>
          <p:cNvSpPr/>
          <p:nvPr/>
        </p:nvSpPr>
        <p:spPr>
          <a:xfrm>
            <a:off x="3611880" y="4361688"/>
            <a:ext cx="1737360" cy="4572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11880" y="4425696"/>
            <a:ext cx="1737360" cy="347472"/>
          </a:xfrm>
          <a:prstGeom prst="rect">
            <a:avLst/>
          </a:prstGeom>
          <a:noFill/>
        </p:spPr>
        <p:txBody>
          <a:bodyPr wrap="square">
            <a:spAutoFit/>
          </a:bodyPr>
          <a:lstStyle/>
          <a:p>
            <a:pPr algn="ctr"/>
            <a:r>
              <a:rPr sz="1200" b="1" i="0">
                <a:solidFill>
                  <a:srgbClr val="C49A22"/>
                </a:solidFill>
                <a:latin typeface="Calibri"/>
              </a:rPr>
              <a:t>&lt; 1 MB</a:t>
            </a:r>
          </a:p>
        </p:txBody>
      </p:sp>
      <p:sp>
        <p:nvSpPr>
          <p:cNvPr id="26" name="TextBox 25"/>
          <p:cNvSpPr txBox="1"/>
          <p:nvPr/>
        </p:nvSpPr>
        <p:spPr>
          <a:xfrm>
            <a:off x="365760" y="4983480"/>
            <a:ext cx="3200400" cy="502920"/>
          </a:xfrm>
          <a:prstGeom prst="rect">
            <a:avLst/>
          </a:prstGeom>
          <a:noFill/>
        </p:spPr>
        <p:txBody>
          <a:bodyPr wrap="square">
            <a:spAutoFit/>
          </a:bodyPr>
          <a:lstStyle/>
          <a:p>
            <a:pPr algn="l"/>
            <a:r>
              <a:rPr sz="1200" b="0" i="0">
                <a:solidFill>
                  <a:srgbClr val="FFFFFF"/>
                </a:solidFill>
                <a:latin typeface="Calibri"/>
              </a:rPr>
              <a:t>Pi power draw</a:t>
            </a:r>
          </a:p>
        </p:txBody>
      </p:sp>
      <p:sp>
        <p:nvSpPr>
          <p:cNvPr id="27" name="Rectangle 26"/>
          <p:cNvSpPr/>
          <p:nvPr/>
        </p:nvSpPr>
        <p:spPr>
          <a:xfrm>
            <a:off x="3611880" y="4983480"/>
            <a:ext cx="1737360" cy="4572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11880" y="5047488"/>
            <a:ext cx="1737360" cy="347472"/>
          </a:xfrm>
          <a:prstGeom prst="rect">
            <a:avLst/>
          </a:prstGeom>
          <a:noFill/>
        </p:spPr>
        <p:txBody>
          <a:bodyPr wrap="square">
            <a:spAutoFit/>
          </a:bodyPr>
          <a:lstStyle/>
          <a:p>
            <a:pPr algn="ctr"/>
            <a:r>
              <a:rPr sz="1200" b="1" i="0">
                <a:solidFill>
                  <a:srgbClr val="C49A22"/>
                </a:solidFill>
                <a:latin typeface="Calibri"/>
              </a:rPr>
              <a:t>~3.4 W idle</a:t>
            </a:r>
          </a:p>
        </p:txBody>
      </p:sp>
      <p:sp>
        <p:nvSpPr>
          <p:cNvPr id="29" name="Rectangle 28"/>
          <p:cNvSpPr/>
          <p:nvPr/>
        </p:nvSpPr>
        <p:spPr>
          <a:xfrm>
            <a:off x="5852160" y="1325880"/>
            <a:ext cx="6035040" cy="237744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0" y="1371600"/>
            <a:ext cx="5852160" cy="384048"/>
          </a:xfrm>
          <a:prstGeom prst="rect">
            <a:avLst/>
          </a:prstGeom>
          <a:noFill/>
        </p:spPr>
        <p:txBody>
          <a:bodyPr wrap="square">
            <a:spAutoFit/>
          </a:bodyPr>
          <a:lstStyle/>
          <a:p>
            <a:pPr algn="l"/>
            <a:r>
              <a:rPr sz="1400" b="1" i="0">
                <a:solidFill>
                  <a:srgbClr val="FFFFFF"/>
                </a:solidFill>
                <a:latin typeface="Calibri"/>
              </a:rPr>
              <a:t>Hardware Cost per Node</a:t>
            </a:r>
          </a:p>
        </p:txBody>
      </p:sp>
      <p:sp>
        <p:nvSpPr>
          <p:cNvPr id="31" name="TextBox 30"/>
          <p:cNvSpPr txBox="1"/>
          <p:nvPr/>
        </p:nvSpPr>
        <p:spPr>
          <a:xfrm>
            <a:off x="5943600" y="1828800"/>
            <a:ext cx="4114800" cy="274320"/>
          </a:xfrm>
          <a:prstGeom prst="rect">
            <a:avLst/>
          </a:prstGeom>
          <a:noFill/>
        </p:spPr>
        <p:txBody>
          <a:bodyPr wrap="square">
            <a:spAutoFit/>
          </a:bodyPr>
          <a:lstStyle/>
          <a:p>
            <a:pPr algn="l"/>
            <a:r>
              <a:rPr sz="1100" b="0" i="0">
                <a:solidFill>
                  <a:srgbClr val="FFFFFF"/>
                </a:solidFill>
                <a:latin typeface="Calibri"/>
              </a:rPr>
              <a:t>Raspberry Pi 4 (4 GB)</a:t>
            </a:r>
          </a:p>
        </p:txBody>
      </p:sp>
      <p:sp>
        <p:nvSpPr>
          <p:cNvPr id="32" name="TextBox 31"/>
          <p:cNvSpPr txBox="1"/>
          <p:nvPr/>
        </p:nvSpPr>
        <p:spPr>
          <a:xfrm>
            <a:off x="10241280" y="1828800"/>
            <a:ext cx="1371600" cy="274320"/>
          </a:xfrm>
          <a:prstGeom prst="rect">
            <a:avLst/>
          </a:prstGeom>
          <a:noFill/>
        </p:spPr>
        <p:txBody>
          <a:bodyPr wrap="square">
            <a:spAutoFit/>
          </a:bodyPr>
          <a:lstStyle/>
          <a:p>
            <a:pPr algn="r"/>
            <a:r>
              <a:rPr sz="1100" b="0" i="0">
                <a:solidFill>
                  <a:srgbClr val="FFFFFF"/>
                </a:solidFill>
                <a:latin typeface="Calibri"/>
              </a:rPr>
              <a:t>USD 35.00</a:t>
            </a:r>
          </a:p>
        </p:txBody>
      </p:sp>
      <p:sp>
        <p:nvSpPr>
          <p:cNvPr id="33" name="TextBox 32"/>
          <p:cNvSpPr txBox="1"/>
          <p:nvPr/>
        </p:nvSpPr>
        <p:spPr>
          <a:xfrm>
            <a:off x="5943600" y="2130552"/>
            <a:ext cx="4114800" cy="274320"/>
          </a:xfrm>
          <a:prstGeom prst="rect">
            <a:avLst/>
          </a:prstGeom>
          <a:noFill/>
        </p:spPr>
        <p:txBody>
          <a:bodyPr wrap="square">
            <a:spAutoFit/>
          </a:bodyPr>
          <a:lstStyle/>
          <a:p>
            <a:pPr algn="l"/>
            <a:r>
              <a:rPr sz="1100" b="0" i="0">
                <a:solidFill>
                  <a:srgbClr val="FFFFFF"/>
                </a:solidFill>
                <a:latin typeface="Calibri"/>
              </a:rPr>
              <a:t>CH341 USB-RS485 adapter</a:t>
            </a:r>
          </a:p>
        </p:txBody>
      </p:sp>
      <p:sp>
        <p:nvSpPr>
          <p:cNvPr id="34" name="TextBox 33"/>
          <p:cNvSpPr txBox="1"/>
          <p:nvPr/>
        </p:nvSpPr>
        <p:spPr>
          <a:xfrm>
            <a:off x="10241280" y="2130552"/>
            <a:ext cx="1371600" cy="274320"/>
          </a:xfrm>
          <a:prstGeom prst="rect">
            <a:avLst/>
          </a:prstGeom>
          <a:noFill/>
        </p:spPr>
        <p:txBody>
          <a:bodyPr wrap="square">
            <a:spAutoFit/>
          </a:bodyPr>
          <a:lstStyle/>
          <a:p>
            <a:pPr algn="r"/>
            <a:r>
              <a:rPr sz="1100" b="0" i="0">
                <a:solidFill>
                  <a:srgbClr val="FFFFFF"/>
                </a:solidFill>
                <a:latin typeface="Calibri"/>
              </a:rPr>
              <a:t>USD  3.50</a:t>
            </a:r>
          </a:p>
        </p:txBody>
      </p:sp>
      <p:sp>
        <p:nvSpPr>
          <p:cNvPr id="35" name="TextBox 34"/>
          <p:cNvSpPr txBox="1"/>
          <p:nvPr/>
        </p:nvSpPr>
        <p:spPr>
          <a:xfrm>
            <a:off x="5943600" y="2432304"/>
            <a:ext cx="4114800" cy="274320"/>
          </a:xfrm>
          <a:prstGeom prst="rect">
            <a:avLst/>
          </a:prstGeom>
          <a:noFill/>
        </p:spPr>
        <p:txBody>
          <a:bodyPr wrap="square">
            <a:spAutoFit/>
          </a:bodyPr>
          <a:lstStyle/>
          <a:p>
            <a:pPr algn="l"/>
            <a:r>
              <a:rPr sz="1100" b="0" i="0">
                <a:solidFill>
                  <a:srgbClr val="FFFFFF"/>
                </a:solidFill>
                <a:latin typeface="Calibri"/>
              </a:rPr>
              <a:t>32 GB micro-SD card</a:t>
            </a:r>
          </a:p>
        </p:txBody>
      </p:sp>
      <p:sp>
        <p:nvSpPr>
          <p:cNvPr id="36" name="TextBox 35"/>
          <p:cNvSpPr txBox="1"/>
          <p:nvPr/>
        </p:nvSpPr>
        <p:spPr>
          <a:xfrm>
            <a:off x="10241280" y="2432304"/>
            <a:ext cx="1371600" cy="274320"/>
          </a:xfrm>
          <a:prstGeom prst="rect">
            <a:avLst/>
          </a:prstGeom>
          <a:noFill/>
        </p:spPr>
        <p:txBody>
          <a:bodyPr wrap="square">
            <a:spAutoFit/>
          </a:bodyPr>
          <a:lstStyle/>
          <a:p>
            <a:pPr algn="r"/>
            <a:r>
              <a:rPr sz="1100" b="0" i="0">
                <a:solidFill>
                  <a:srgbClr val="FFFFFF"/>
                </a:solidFill>
                <a:latin typeface="Calibri"/>
              </a:rPr>
              <a:t>USD  5.00</a:t>
            </a:r>
          </a:p>
        </p:txBody>
      </p:sp>
      <p:sp>
        <p:nvSpPr>
          <p:cNvPr id="37" name="TextBox 36"/>
          <p:cNvSpPr txBox="1"/>
          <p:nvPr/>
        </p:nvSpPr>
        <p:spPr>
          <a:xfrm>
            <a:off x="5943600" y="2734056"/>
            <a:ext cx="4114800" cy="274320"/>
          </a:xfrm>
          <a:prstGeom prst="rect">
            <a:avLst/>
          </a:prstGeom>
          <a:noFill/>
        </p:spPr>
        <p:txBody>
          <a:bodyPr wrap="square">
            <a:spAutoFit/>
          </a:bodyPr>
          <a:lstStyle/>
          <a:p>
            <a:pPr algn="l"/>
            <a:r>
              <a:rPr sz="1100" b="0" i="0">
                <a:solidFill>
                  <a:srgbClr val="FFFFFF"/>
                </a:solidFill>
                <a:latin typeface="Calibri"/>
              </a:rPr>
              <a:t>5V/3A USB-C supply</a:t>
            </a:r>
          </a:p>
        </p:txBody>
      </p:sp>
      <p:sp>
        <p:nvSpPr>
          <p:cNvPr id="38" name="TextBox 37"/>
          <p:cNvSpPr txBox="1"/>
          <p:nvPr/>
        </p:nvSpPr>
        <p:spPr>
          <a:xfrm>
            <a:off x="10241280" y="2734056"/>
            <a:ext cx="1371600" cy="274320"/>
          </a:xfrm>
          <a:prstGeom prst="rect">
            <a:avLst/>
          </a:prstGeom>
          <a:noFill/>
        </p:spPr>
        <p:txBody>
          <a:bodyPr wrap="square">
            <a:spAutoFit/>
          </a:bodyPr>
          <a:lstStyle/>
          <a:p>
            <a:pPr algn="r"/>
            <a:r>
              <a:rPr sz="1100" b="0" i="0">
                <a:solidFill>
                  <a:srgbClr val="FFFFFF"/>
                </a:solidFill>
                <a:latin typeface="Calibri"/>
              </a:rPr>
              <a:t>USD  4.00</a:t>
            </a:r>
          </a:p>
        </p:txBody>
      </p:sp>
      <p:sp>
        <p:nvSpPr>
          <p:cNvPr id="39" name="TextBox 38"/>
          <p:cNvSpPr txBox="1"/>
          <p:nvPr/>
        </p:nvSpPr>
        <p:spPr>
          <a:xfrm>
            <a:off x="5943600" y="3035808"/>
            <a:ext cx="4114800" cy="274320"/>
          </a:xfrm>
          <a:prstGeom prst="rect">
            <a:avLst/>
          </a:prstGeom>
          <a:noFill/>
        </p:spPr>
        <p:txBody>
          <a:bodyPr wrap="square">
            <a:spAutoFit/>
          </a:bodyPr>
          <a:lstStyle/>
          <a:p>
            <a:pPr algn="l"/>
            <a:r>
              <a:rPr sz="1100" b="0" i="0">
                <a:solidFill>
                  <a:srgbClr val="FFFFFF"/>
                </a:solidFill>
                <a:latin typeface="Calibri"/>
              </a:rPr>
              <a:t>Cable + terminator</a:t>
            </a:r>
          </a:p>
        </p:txBody>
      </p:sp>
      <p:sp>
        <p:nvSpPr>
          <p:cNvPr id="40" name="TextBox 39"/>
          <p:cNvSpPr txBox="1"/>
          <p:nvPr/>
        </p:nvSpPr>
        <p:spPr>
          <a:xfrm>
            <a:off x="10241280" y="3035808"/>
            <a:ext cx="1371600" cy="274320"/>
          </a:xfrm>
          <a:prstGeom prst="rect">
            <a:avLst/>
          </a:prstGeom>
          <a:noFill/>
        </p:spPr>
        <p:txBody>
          <a:bodyPr wrap="square">
            <a:spAutoFit/>
          </a:bodyPr>
          <a:lstStyle/>
          <a:p>
            <a:pPr algn="r"/>
            <a:r>
              <a:rPr sz="1100" b="0" i="0">
                <a:solidFill>
                  <a:srgbClr val="FFFFFF"/>
                </a:solidFill>
                <a:latin typeface="Calibri"/>
              </a:rPr>
              <a:t>USD  2.00</a:t>
            </a:r>
          </a:p>
        </p:txBody>
      </p:sp>
      <p:sp>
        <p:nvSpPr>
          <p:cNvPr id="41" name="TextBox 40"/>
          <p:cNvSpPr txBox="1"/>
          <p:nvPr/>
        </p:nvSpPr>
        <p:spPr>
          <a:xfrm>
            <a:off x="5943600" y="3337560"/>
            <a:ext cx="4114800" cy="274320"/>
          </a:xfrm>
          <a:prstGeom prst="rect">
            <a:avLst/>
          </a:prstGeom>
          <a:noFill/>
        </p:spPr>
        <p:txBody>
          <a:bodyPr wrap="square">
            <a:spAutoFit/>
          </a:bodyPr>
          <a:lstStyle/>
          <a:p>
            <a:pPr algn="l"/>
            <a:r>
              <a:rPr sz="1100" b="1" i="0">
                <a:solidFill>
                  <a:srgbClr val="C49A22"/>
                </a:solidFill>
                <a:latin typeface="Calibri"/>
              </a:rPr>
              <a:t>TOTAL</a:t>
            </a:r>
          </a:p>
        </p:txBody>
      </p:sp>
      <p:sp>
        <p:nvSpPr>
          <p:cNvPr id="42" name="TextBox 41"/>
          <p:cNvSpPr txBox="1"/>
          <p:nvPr/>
        </p:nvSpPr>
        <p:spPr>
          <a:xfrm>
            <a:off x="10241280" y="3337560"/>
            <a:ext cx="1371600" cy="274320"/>
          </a:xfrm>
          <a:prstGeom prst="rect">
            <a:avLst/>
          </a:prstGeom>
          <a:noFill/>
        </p:spPr>
        <p:txBody>
          <a:bodyPr wrap="square">
            <a:spAutoFit/>
          </a:bodyPr>
          <a:lstStyle/>
          <a:p>
            <a:pPr algn="r"/>
            <a:r>
              <a:rPr sz="1100" b="1" i="0">
                <a:solidFill>
                  <a:srgbClr val="C49A22"/>
                </a:solidFill>
                <a:latin typeface="Calibri"/>
              </a:rPr>
              <a:t>USD 49.50</a:t>
            </a:r>
          </a:p>
        </p:txBody>
      </p:sp>
      <p:sp>
        <p:nvSpPr>
          <p:cNvPr id="43" name="Rectangle 42"/>
          <p:cNvSpPr/>
          <p:nvPr/>
        </p:nvSpPr>
        <p:spPr>
          <a:xfrm>
            <a:off x="5852160" y="3794760"/>
            <a:ext cx="6035040" cy="210312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43600" y="3840480"/>
            <a:ext cx="5852160" cy="384048"/>
          </a:xfrm>
          <a:prstGeom prst="rect">
            <a:avLst/>
          </a:prstGeom>
          <a:noFill/>
        </p:spPr>
        <p:txBody>
          <a:bodyPr wrap="square">
            <a:spAutoFit/>
          </a:bodyPr>
          <a:lstStyle/>
          <a:p>
            <a:pPr algn="l"/>
            <a:r>
              <a:rPr sz="1400" b="1" i="0">
                <a:solidFill>
                  <a:srgbClr val="C49A22"/>
                </a:solidFill>
                <a:latin typeface="Calibri"/>
              </a:rPr>
              <a:t>Revenue Recovery Potential</a:t>
            </a:r>
          </a:p>
        </p:txBody>
      </p:sp>
      <p:sp>
        <p:nvSpPr>
          <p:cNvPr id="45" name="TextBox 44"/>
          <p:cNvSpPr txBox="1"/>
          <p:nvPr/>
        </p:nvSpPr>
        <p:spPr>
          <a:xfrm>
            <a:off x="5943600" y="4297680"/>
            <a:ext cx="5760720" cy="1508760"/>
          </a:xfrm>
          <a:prstGeom prst="rect">
            <a:avLst/>
          </a:prstGeom>
          <a:noFill/>
        </p:spPr>
        <p:txBody>
          <a:bodyPr wrap="square">
            <a:spAutoFit/>
          </a:bodyPr>
          <a:lstStyle/>
          <a:p>
            <a:pPr>
              <a:spcBef>
                <a:spcPts val="400"/>
              </a:spcBef>
            </a:pPr>
            <a:r>
              <a:rPr sz="1200">
                <a:solidFill>
                  <a:srgbClr val="FFFFFF"/>
                </a:solidFill>
                <a:latin typeface="Calibri"/>
              </a:rPr>
              <a:t>▪ Typical urban theft: 50–200 kWh/month unbilled</a:t>
            </a:r>
          </a:p>
          <a:p>
            <a:pPr>
              <a:spcBef>
                <a:spcPts val="400"/>
              </a:spcBef>
            </a:pPr>
            <a:r>
              <a:rPr sz="1200">
                <a:solidFill>
                  <a:srgbClr val="FFFFFF"/>
                </a:solidFill>
                <a:latin typeface="Calibri"/>
              </a:rPr>
              <a:t>▪ At lifeline rate (756 UGX/kWh): UGX 37,700–150,800/month per customer</a:t>
            </a:r>
          </a:p>
          <a:p>
            <a:pPr>
              <a:spcBef>
                <a:spcPts val="400"/>
              </a:spcBef>
            </a:pPr>
            <a:r>
              <a:rPr sz="1200">
                <a:solidFill>
                  <a:srgbClr val="FFFFFF"/>
                </a:solidFill>
                <a:latin typeface="Calibri"/>
              </a:rPr>
              <a:t>▪ Hardware cost ~UGX 180,000 → payback &lt; 1 month per detected thief</a:t>
            </a:r>
          </a:p>
          <a:p>
            <a:pPr>
              <a:spcBef>
                <a:spcPts val="400"/>
              </a:spcBef>
            </a:pPr>
            <a:r>
              <a:rPr sz="1200">
                <a:solidFill>
                  <a:srgbClr val="FFFFFF"/>
                </a:solidFill>
                <a:latin typeface="Calibri"/>
              </a:rPr>
              <a:t>▪ Cloud cost: UGX 0/month (free tier services)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Discussion</a:t>
            </a:r>
          </a:p>
        </p:txBody>
      </p:sp>
      <p:sp>
        <p:nvSpPr>
          <p:cNvPr id="4" name="Rectangle 3"/>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7" name="TextBox 6"/>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14 / 17</a:t>
            </a:r>
          </a:p>
        </p:txBody>
      </p:sp>
      <p:sp>
        <p:nvSpPr>
          <p:cNvPr id="8" name="Rectangle 7"/>
          <p:cNvSpPr/>
          <p:nvPr/>
        </p:nvSpPr>
        <p:spPr>
          <a:xfrm>
            <a:off x="320040" y="1325880"/>
            <a:ext cx="5394960" cy="1920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17320"/>
            <a:ext cx="5120640" cy="411480"/>
          </a:xfrm>
          <a:prstGeom prst="rect">
            <a:avLst/>
          </a:prstGeom>
          <a:noFill/>
        </p:spPr>
        <p:txBody>
          <a:bodyPr wrap="square">
            <a:spAutoFit/>
          </a:bodyPr>
          <a:lstStyle/>
          <a:p>
            <a:pPr algn="l"/>
            <a:r>
              <a:rPr sz="1300" b="1" i="0">
                <a:solidFill>
                  <a:srgbClr val="C49A22"/>
                </a:solidFill>
                <a:latin typeface="Calibri"/>
              </a:rPr>
              <a:t>Perfect Test Accuracy (AUC = 1.0)</a:t>
            </a:r>
          </a:p>
        </p:txBody>
      </p:sp>
      <p:sp>
        <p:nvSpPr>
          <p:cNvPr id="10" name="TextBox 9"/>
          <p:cNvSpPr txBox="1"/>
          <p:nvPr/>
        </p:nvSpPr>
        <p:spPr>
          <a:xfrm>
            <a:off x="457200" y="1874520"/>
            <a:ext cx="5120640" cy="1280160"/>
          </a:xfrm>
          <a:prstGeom prst="rect">
            <a:avLst/>
          </a:prstGeom>
          <a:noFill/>
        </p:spPr>
        <p:txBody>
          <a:bodyPr wrap="square">
            <a:spAutoFit/>
          </a:bodyPr>
          <a:lstStyle/>
          <a:p>
            <a:pPr algn="l"/>
            <a:r>
              <a:rPr sz="1200" b="0" i="0">
                <a:solidFill>
                  <a:srgbClr val="FFFFFF"/>
                </a:solidFill>
                <a:latin typeface="Calibri"/>
              </a:rPr>
              <a:t>CT bypass leaves an unambiguous electrical zero in phase current — the engineered I_imbalance and I_Lx_zero features capture this definitively. In controlled lab conditions, the signal is clean enough for perfect discrimination.</a:t>
            </a:r>
          </a:p>
        </p:txBody>
      </p:sp>
      <p:sp>
        <p:nvSpPr>
          <p:cNvPr id="11" name="Rectangle 10"/>
          <p:cNvSpPr/>
          <p:nvPr/>
        </p:nvSpPr>
        <p:spPr>
          <a:xfrm>
            <a:off x="6080760" y="1325880"/>
            <a:ext cx="5394960" cy="192024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1417320"/>
            <a:ext cx="5120640" cy="411480"/>
          </a:xfrm>
          <a:prstGeom prst="rect">
            <a:avLst/>
          </a:prstGeom>
          <a:noFill/>
        </p:spPr>
        <p:txBody>
          <a:bodyPr wrap="square">
            <a:spAutoFit/>
          </a:bodyPr>
          <a:lstStyle/>
          <a:p>
            <a:pPr algn="l"/>
            <a:r>
              <a:rPr sz="1300" b="1" i="0">
                <a:solidFill>
                  <a:srgbClr val="C49A22"/>
                </a:solidFill>
                <a:latin typeface="Calibri"/>
              </a:rPr>
              <a:t>Laboratory vs. Real-World Performance</a:t>
            </a:r>
          </a:p>
        </p:txBody>
      </p:sp>
      <p:sp>
        <p:nvSpPr>
          <p:cNvPr id="13" name="TextBox 12"/>
          <p:cNvSpPr txBox="1"/>
          <p:nvPr/>
        </p:nvSpPr>
        <p:spPr>
          <a:xfrm>
            <a:off x="6217920" y="1874520"/>
            <a:ext cx="5120640" cy="1280160"/>
          </a:xfrm>
          <a:prstGeom prst="rect">
            <a:avLst/>
          </a:prstGeom>
          <a:noFill/>
        </p:spPr>
        <p:txBody>
          <a:bodyPr wrap="square">
            <a:spAutoFit/>
          </a:bodyPr>
          <a:lstStyle/>
          <a:p>
            <a:pPr algn="l"/>
            <a:r>
              <a:rPr sz="1200" b="0" i="0">
                <a:solidFill>
                  <a:srgbClr val="FFFFFF"/>
                </a:solidFill>
                <a:latin typeface="Calibri"/>
              </a:rPr>
              <a:t>Real-world deployment will expose the model to grid noise, natural load imbalance (common in informal settlements), and sensor drift. AUC may reduce from 1.0. Post-deployment retraining with field-labelled events is essential.</a:t>
            </a:r>
          </a:p>
        </p:txBody>
      </p:sp>
      <p:sp>
        <p:nvSpPr>
          <p:cNvPr id="14" name="Rectangle 13"/>
          <p:cNvSpPr/>
          <p:nvPr/>
        </p:nvSpPr>
        <p:spPr>
          <a:xfrm>
            <a:off x="320040" y="3383280"/>
            <a:ext cx="5394960" cy="1920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474720"/>
            <a:ext cx="5120640" cy="411480"/>
          </a:xfrm>
          <a:prstGeom prst="rect">
            <a:avLst/>
          </a:prstGeom>
          <a:noFill/>
        </p:spPr>
        <p:txBody>
          <a:bodyPr wrap="square">
            <a:spAutoFit/>
          </a:bodyPr>
          <a:lstStyle/>
          <a:p>
            <a:pPr algn="l"/>
            <a:r>
              <a:rPr sz="1300" b="1" i="0">
                <a:solidFill>
                  <a:srgbClr val="C49A22"/>
                </a:solidFill>
                <a:latin typeface="Calibri"/>
              </a:rPr>
              <a:t>Edge vs. Cloud Inference Trade-off</a:t>
            </a:r>
          </a:p>
        </p:txBody>
      </p:sp>
      <p:sp>
        <p:nvSpPr>
          <p:cNvPr id="16" name="TextBox 15"/>
          <p:cNvSpPr txBox="1"/>
          <p:nvPr/>
        </p:nvSpPr>
        <p:spPr>
          <a:xfrm>
            <a:off x="457200" y="3931920"/>
            <a:ext cx="5120640" cy="1280160"/>
          </a:xfrm>
          <a:prstGeom prst="rect">
            <a:avLst/>
          </a:prstGeom>
          <a:noFill/>
        </p:spPr>
        <p:txBody>
          <a:bodyPr wrap="square">
            <a:spAutoFit/>
          </a:bodyPr>
          <a:lstStyle/>
          <a:p>
            <a:pPr algn="l"/>
            <a:r>
              <a:rPr sz="1200" b="0" i="0">
                <a:solidFill>
                  <a:srgbClr val="FFFFFF"/>
                </a:solidFill>
                <a:latin typeface="Calibri"/>
              </a:rPr>
              <a:t>Edge inference adds a 14.4 MB model footprint on the Pi but eliminates all latency and internet dependency for detection. The system correctly detects theft even with zero connectivity — the cloud is display-only infrastructure.</a:t>
            </a:r>
          </a:p>
        </p:txBody>
      </p:sp>
      <p:sp>
        <p:nvSpPr>
          <p:cNvPr id="17" name="Rectangle 16"/>
          <p:cNvSpPr/>
          <p:nvPr/>
        </p:nvSpPr>
        <p:spPr>
          <a:xfrm>
            <a:off x="6080760" y="3383280"/>
            <a:ext cx="5394960" cy="192024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3474720"/>
            <a:ext cx="5120640" cy="411480"/>
          </a:xfrm>
          <a:prstGeom prst="rect">
            <a:avLst/>
          </a:prstGeom>
          <a:noFill/>
        </p:spPr>
        <p:txBody>
          <a:bodyPr wrap="square">
            <a:spAutoFit/>
          </a:bodyPr>
          <a:lstStyle/>
          <a:p>
            <a:pPr algn="l"/>
            <a:r>
              <a:rPr sz="1300" b="1" i="0">
                <a:solidFill>
                  <a:srgbClr val="C49A22"/>
                </a:solidFill>
                <a:latin typeface="Calibri"/>
              </a:rPr>
              <a:t>Neon PostgreSQL over Supabase</a:t>
            </a:r>
          </a:p>
        </p:txBody>
      </p:sp>
      <p:sp>
        <p:nvSpPr>
          <p:cNvPr id="19" name="TextBox 18"/>
          <p:cNvSpPr txBox="1"/>
          <p:nvPr/>
        </p:nvSpPr>
        <p:spPr>
          <a:xfrm>
            <a:off x="6217920" y="3931920"/>
            <a:ext cx="5120640" cy="1280160"/>
          </a:xfrm>
          <a:prstGeom prst="rect">
            <a:avLst/>
          </a:prstGeom>
          <a:noFill/>
        </p:spPr>
        <p:txBody>
          <a:bodyPr wrap="square">
            <a:spAutoFit/>
          </a:bodyPr>
          <a:lstStyle/>
          <a:p>
            <a:pPr algn="l"/>
            <a:r>
              <a:rPr sz="1200" b="0" i="0">
                <a:solidFill>
                  <a:srgbClr val="FFFFFF"/>
                </a:solidFill>
                <a:latin typeface="Calibri"/>
              </a:rPr>
              <a:t>Supabase pauses the project after 7 days inactivity — fatal for a monitoring system where no theft = normal (good) state. Neon compute scales to zero but the DB endpoint remains always reachable (~1s wake).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Recommendations</a:t>
            </a:r>
          </a:p>
        </p:txBody>
      </p:sp>
      <p:sp>
        <p:nvSpPr>
          <p:cNvPr id="4" name="Rectangle 3"/>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7" name="TextBox 6"/>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15 / 17</a:t>
            </a:r>
          </a:p>
        </p:txBody>
      </p:sp>
      <p:sp>
        <p:nvSpPr>
          <p:cNvPr id="8" name="Rectangle 7"/>
          <p:cNvSpPr/>
          <p:nvPr/>
        </p:nvSpPr>
        <p:spPr>
          <a:xfrm>
            <a:off x="320040" y="1325880"/>
            <a:ext cx="5394960" cy="18288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 y="1325880"/>
            <a:ext cx="594360" cy="182880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874520"/>
            <a:ext cx="594360" cy="731520"/>
          </a:xfrm>
          <a:prstGeom prst="rect">
            <a:avLst/>
          </a:prstGeom>
          <a:noFill/>
        </p:spPr>
        <p:txBody>
          <a:bodyPr wrap="square">
            <a:spAutoFit/>
          </a:bodyPr>
          <a:lstStyle/>
          <a:p>
            <a:pPr algn="ctr"/>
            <a:r>
              <a:rPr sz="1800" b="1" i="0">
                <a:solidFill>
                  <a:srgbClr val="1A3A5C"/>
                </a:solidFill>
                <a:latin typeface="Calibri"/>
              </a:rPr>
              <a:t>01</a:t>
            </a:r>
          </a:p>
        </p:txBody>
      </p:sp>
      <p:sp>
        <p:nvSpPr>
          <p:cNvPr id="11" name="TextBox 10"/>
          <p:cNvSpPr txBox="1"/>
          <p:nvPr/>
        </p:nvSpPr>
        <p:spPr>
          <a:xfrm>
            <a:off x="1005840" y="1399032"/>
            <a:ext cx="4617720" cy="411480"/>
          </a:xfrm>
          <a:prstGeom prst="rect">
            <a:avLst/>
          </a:prstGeom>
          <a:noFill/>
        </p:spPr>
        <p:txBody>
          <a:bodyPr wrap="square">
            <a:spAutoFit/>
          </a:bodyPr>
          <a:lstStyle/>
          <a:p>
            <a:pPr algn="l"/>
            <a:r>
              <a:rPr sz="1300" b="1" i="0">
                <a:solidFill>
                  <a:srgbClr val="FFFFFF"/>
                </a:solidFill>
                <a:latin typeface="Calibri"/>
              </a:rPr>
              <a:t>Pilot deployment</a:t>
            </a:r>
          </a:p>
        </p:txBody>
      </p:sp>
      <p:sp>
        <p:nvSpPr>
          <p:cNvPr id="12" name="TextBox 11"/>
          <p:cNvSpPr txBox="1"/>
          <p:nvPr/>
        </p:nvSpPr>
        <p:spPr>
          <a:xfrm>
            <a:off x="1005840" y="1828800"/>
            <a:ext cx="4617720" cy="1234440"/>
          </a:xfrm>
          <a:prstGeom prst="rect">
            <a:avLst/>
          </a:prstGeom>
          <a:noFill/>
        </p:spPr>
        <p:txBody>
          <a:bodyPr wrap="square">
            <a:spAutoFit/>
          </a:bodyPr>
          <a:lstStyle/>
          <a:p>
            <a:pPr algn="l"/>
            <a:r>
              <a:rPr sz="1200" b="0" i="0">
                <a:solidFill>
                  <a:srgbClr val="FFFFFF"/>
                </a:solidFill>
                <a:latin typeface="Calibri"/>
              </a:rPr>
              <a:t>Deploy on 5–10 high-loss meters in Bwaise before wide rollout. Use real-world detections to calibrate threshold and measure false-positive rate.</a:t>
            </a:r>
          </a:p>
        </p:txBody>
      </p:sp>
      <p:sp>
        <p:nvSpPr>
          <p:cNvPr id="13" name="Rectangle 12"/>
          <p:cNvSpPr/>
          <p:nvPr/>
        </p:nvSpPr>
        <p:spPr>
          <a:xfrm>
            <a:off x="6080760" y="1325880"/>
            <a:ext cx="5394960" cy="18288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80760" y="1325880"/>
            <a:ext cx="594360" cy="182880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80760" y="1874520"/>
            <a:ext cx="594360" cy="731520"/>
          </a:xfrm>
          <a:prstGeom prst="rect">
            <a:avLst/>
          </a:prstGeom>
          <a:noFill/>
        </p:spPr>
        <p:txBody>
          <a:bodyPr wrap="square">
            <a:spAutoFit/>
          </a:bodyPr>
          <a:lstStyle/>
          <a:p>
            <a:pPr algn="ctr"/>
            <a:r>
              <a:rPr sz="1800" b="1" i="0">
                <a:solidFill>
                  <a:srgbClr val="1A3A5C"/>
                </a:solidFill>
                <a:latin typeface="Calibri"/>
              </a:rPr>
              <a:t>02</a:t>
            </a:r>
          </a:p>
        </p:txBody>
      </p:sp>
      <p:sp>
        <p:nvSpPr>
          <p:cNvPr id="16" name="TextBox 15"/>
          <p:cNvSpPr txBox="1"/>
          <p:nvPr/>
        </p:nvSpPr>
        <p:spPr>
          <a:xfrm>
            <a:off x="6766560" y="1399032"/>
            <a:ext cx="4617720" cy="411480"/>
          </a:xfrm>
          <a:prstGeom prst="rect">
            <a:avLst/>
          </a:prstGeom>
          <a:noFill/>
        </p:spPr>
        <p:txBody>
          <a:bodyPr wrap="square">
            <a:spAutoFit/>
          </a:bodyPr>
          <a:lstStyle/>
          <a:p>
            <a:pPr algn="l"/>
            <a:r>
              <a:rPr sz="1300" b="1" i="0">
                <a:solidFill>
                  <a:srgbClr val="FFFFFF"/>
                </a:solidFill>
                <a:latin typeface="Calibri"/>
              </a:rPr>
              <a:t>SMS/WhatsApp alerts</a:t>
            </a:r>
          </a:p>
        </p:txBody>
      </p:sp>
      <p:sp>
        <p:nvSpPr>
          <p:cNvPr id="17" name="TextBox 16"/>
          <p:cNvSpPr txBox="1"/>
          <p:nvPr/>
        </p:nvSpPr>
        <p:spPr>
          <a:xfrm>
            <a:off x="6766560" y="1828800"/>
            <a:ext cx="4617720" cy="1234440"/>
          </a:xfrm>
          <a:prstGeom prst="rect">
            <a:avLst/>
          </a:prstGeom>
          <a:noFill/>
        </p:spPr>
        <p:txBody>
          <a:bodyPr wrap="square">
            <a:spAutoFit/>
          </a:bodyPr>
          <a:lstStyle/>
          <a:p>
            <a:pPr algn="l"/>
            <a:r>
              <a:rPr sz="1200" b="0" i="0">
                <a:solidFill>
                  <a:srgbClr val="FFFFFF"/>
                </a:solidFill>
                <a:latin typeface="Calibri"/>
              </a:rPr>
              <a:t>Integrate Africa's Talking API to push alerts directly to field engineer mobile phones. Faster dispatch than periodic dashboard checking.</a:t>
            </a:r>
          </a:p>
        </p:txBody>
      </p:sp>
      <p:sp>
        <p:nvSpPr>
          <p:cNvPr id="18" name="Rectangle 17"/>
          <p:cNvSpPr/>
          <p:nvPr/>
        </p:nvSpPr>
        <p:spPr>
          <a:xfrm>
            <a:off x="320040" y="3337560"/>
            <a:ext cx="5394960" cy="18288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0040" y="3337560"/>
            <a:ext cx="594360" cy="182880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3886200"/>
            <a:ext cx="594360" cy="731520"/>
          </a:xfrm>
          <a:prstGeom prst="rect">
            <a:avLst/>
          </a:prstGeom>
          <a:noFill/>
        </p:spPr>
        <p:txBody>
          <a:bodyPr wrap="square">
            <a:spAutoFit/>
          </a:bodyPr>
          <a:lstStyle/>
          <a:p>
            <a:pPr algn="ctr"/>
            <a:r>
              <a:rPr sz="1800" b="1" i="0">
                <a:solidFill>
                  <a:srgbClr val="1A3A5C"/>
                </a:solidFill>
                <a:latin typeface="Calibri"/>
              </a:rPr>
              <a:t>03</a:t>
            </a:r>
          </a:p>
        </p:txBody>
      </p:sp>
      <p:sp>
        <p:nvSpPr>
          <p:cNvPr id="21" name="TextBox 20"/>
          <p:cNvSpPr txBox="1"/>
          <p:nvPr/>
        </p:nvSpPr>
        <p:spPr>
          <a:xfrm>
            <a:off x="1005840" y="3410712"/>
            <a:ext cx="4617720" cy="411480"/>
          </a:xfrm>
          <a:prstGeom prst="rect">
            <a:avLst/>
          </a:prstGeom>
          <a:noFill/>
        </p:spPr>
        <p:txBody>
          <a:bodyPr wrap="square">
            <a:spAutoFit/>
          </a:bodyPr>
          <a:lstStyle/>
          <a:p>
            <a:pPr algn="l"/>
            <a:r>
              <a:rPr sz="1300" b="1" i="0">
                <a:solidFill>
                  <a:srgbClr val="FFFFFF"/>
                </a:solidFill>
                <a:latin typeface="Calibri"/>
              </a:rPr>
              <a:t>Multi-meter dashboard</a:t>
            </a:r>
          </a:p>
        </p:txBody>
      </p:sp>
      <p:sp>
        <p:nvSpPr>
          <p:cNvPr id="22" name="TextBox 21"/>
          <p:cNvSpPr txBox="1"/>
          <p:nvPr/>
        </p:nvSpPr>
        <p:spPr>
          <a:xfrm>
            <a:off x="1005840" y="3840480"/>
            <a:ext cx="4617720" cy="1234440"/>
          </a:xfrm>
          <a:prstGeom prst="rect">
            <a:avLst/>
          </a:prstGeom>
          <a:noFill/>
        </p:spPr>
        <p:txBody>
          <a:bodyPr wrap="square">
            <a:spAutoFit/>
          </a:bodyPr>
          <a:lstStyle/>
          <a:p>
            <a:pPr algn="l"/>
            <a:r>
              <a:rPr sz="1200" b="0" i="0">
                <a:solidFill>
                  <a:srgbClr val="FFFFFF"/>
                </a:solidFill>
                <a:latin typeface="Calibri"/>
              </a:rPr>
              <a:t>Build a network management layer aggregating alerts from multiple Pi nodes across the distribution network with geographic mapping.</a:t>
            </a:r>
          </a:p>
        </p:txBody>
      </p:sp>
      <p:sp>
        <p:nvSpPr>
          <p:cNvPr id="23" name="Rectangle 22"/>
          <p:cNvSpPr/>
          <p:nvPr/>
        </p:nvSpPr>
        <p:spPr>
          <a:xfrm>
            <a:off x="6080760" y="3337560"/>
            <a:ext cx="5394960" cy="18288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3337560"/>
            <a:ext cx="594360" cy="182880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80760" y="3886200"/>
            <a:ext cx="594360" cy="731520"/>
          </a:xfrm>
          <a:prstGeom prst="rect">
            <a:avLst/>
          </a:prstGeom>
          <a:noFill/>
        </p:spPr>
        <p:txBody>
          <a:bodyPr wrap="square">
            <a:spAutoFit/>
          </a:bodyPr>
          <a:lstStyle/>
          <a:p>
            <a:pPr algn="ctr"/>
            <a:r>
              <a:rPr sz="1800" b="1" i="0">
                <a:solidFill>
                  <a:srgbClr val="1A3A5C"/>
                </a:solidFill>
                <a:latin typeface="Calibri"/>
              </a:rPr>
              <a:t>04</a:t>
            </a:r>
          </a:p>
        </p:txBody>
      </p:sp>
      <p:sp>
        <p:nvSpPr>
          <p:cNvPr id="26" name="TextBox 25"/>
          <p:cNvSpPr txBox="1"/>
          <p:nvPr/>
        </p:nvSpPr>
        <p:spPr>
          <a:xfrm>
            <a:off x="6766560" y="3410712"/>
            <a:ext cx="4617720" cy="411480"/>
          </a:xfrm>
          <a:prstGeom prst="rect">
            <a:avLst/>
          </a:prstGeom>
          <a:noFill/>
        </p:spPr>
        <p:txBody>
          <a:bodyPr wrap="square">
            <a:spAutoFit/>
          </a:bodyPr>
          <a:lstStyle/>
          <a:p>
            <a:pPr algn="l"/>
            <a:r>
              <a:rPr sz="1300" b="1" i="0">
                <a:solidFill>
                  <a:srgbClr val="FFFFFF"/>
                </a:solidFill>
                <a:latin typeface="Calibri"/>
              </a:rPr>
              <a:t>Adjustable threshold</a:t>
            </a:r>
          </a:p>
        </p:txBody>
      </p:sp>
      <p:sp>
        <p:nvSpPr>
          <p:cNvPr id="27" name="TextBox 26"/>
          <p:cNvSpPr txBox="1"/>
          <p:nvPr/>
        </p:nvSpPr>
        <p:spPr>
          <a:xfrm>
            <a:off x="6766560" y="3840480"/>
            <a:ext cx="4617720" cy="1234440"/>
          </a:xfrm>
          <a:prstGeom prst="rect">
            <a:avLst/>
          </a:prstGeom>
          <a:noFill/>
        </p:spPr>
        <p:txBody>
          <a:bodyPr wrap="square">
            <a:spAutoFit/>
          </a:bodyPr>
          <a:lstStyle/>
          <a:p>
            <a:pPr algn="l"/>
            <a:r>
              <a:rPr sz="1200" b="0" i="0">
                <a:solidFill>
                  <a:srgbClr val="FFFFFF"/>
                </a:solidFill>
                <a:latin typeface="Calibri"/>
              </a:rPr>
              <a:t>Make the P(theft) threshold configurable per meter to account for local grid conditions and reduce false alarms at sites with natural imbalance.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Conclusion</a:t>
            </a:r>
          </a:p>
        </p:txBody>
      </p:sp>
      <p:sp>
        <p:nvSpPr>
          <p:cNvPr id="4" name="Rectangle 3"/>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7" name="TextBox 6"/>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16 / 17</a:t>
            </a:r>
          </a:p>
        </p:txBody>
      </p:sp>
      <p:sp>
        <p:nvSpPr>
          <p:cNvPr id="8" name="Rectangle 7"/>
          <p:cNvSpPr/>
          <p:nvPr/>
        </p:nvSpPr>
        <p:spPr>
          <a:xfrm>
            <a:off x="365760" y="1325880"/>
            <a:ext cx="11430000"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463040"/>
            <a:ext cx="594360" cy="77724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645920"/>
            <a:ext cx="594360" cy="457200"/>
          </a:xfrm>
          <a:prstGeom prst="rect">
            <a:avLst/>
          </a:prstGeom>
          <a:noFill/>
        </p:spPr>
        <p:txBody>
          <a:bodyPr wrap="square">
            <a:spAutoFit/>
          </a:bodyPr>
          <a:lstStyle/>
          <a:p>
            <a:pPr algn="ctr"/>
            <a:r>
              <a:rPr sz="2000" b="1" i="0">
                <a:solidFill>
                  <a:srgbClr val="1A3A5C"/>
                </a:solidFill>
                <a:latin typeface="Calibri"/>
              </a:rPr>
              <a:t>1</a:t>
            </a:r>
          </a:p>
        </p:txBody>
      </p:sp>
      <p:sp>
        <p:nvSpPr>
          <p:cNvPr id="11" name="TextBox 10"/>
          <p:cNvSpPr txBox="1"/>
          <p:nvPr/>
        </p:nvSpPr>
        <p:spPr>
          <a:xfrm>
            <a:off x="1097280" y="1508760"/>
            <a:ext cx="10607040" cy="777240"/>
          </a:xfrm>
          <a:prstGeom prst="rect">
            <a:avLst/>
          </a:prstGeom>
          <a:noFill/>
        </p:spPr>
        <p:txBody>
          <a:bodyPr wrap="square">
            <a:spAutoFit/>
          </a:bodyPr>
          <a:lstStyle/>
          <a:p>
            <a:pPr algn="l"/>
            <a:r>
              <a:rPr sz="1400" b="0" i="0">
                <a:solidFill>
                  <a:srgbClr val="FFFFFF"/>
                </a:solidFill>
                <a:latin typeface="Calibri"/>
              </a:rPr>
              <a:t>Demonstrated that a USD 49.50 Raspberry Pi node can detect CT bypass electricity theft in real time with AUC = 1.0000 on a 160,427-sample laboratory test set.</a:t>
            </a:r>
          </a:p>
        </p:txBody>
      </p:sp>
      <p:sp>
        <p:nvSpPr>
          <p:cNvPr id="12" name="Rectangle 11"/>
          <p:cNvSpPr/>
          <p:nvPr/>
        </p:nvSpPr>
        <p:spPr>
          <a:xfrm>
            <a:off x="365760" y="2423160"/>
            <a:ext cx="594360" cy="77724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606040"/>
            <a:ext cx="594360" cy="457200"/>
          </a:xfrm>
          <a:prstGeom prst="rect">
            <a:avLst/>
          </a:prstGeom>
          <a:noFill/>
        </p:spPr>
        <p:txBody>
          <a:bodyPr wrap="square">
            <a:spAutoFit/>
          </a:bodyPr>
          <a:lstStyle/>
          <a:p>
            <a:pPr algn="ctr"/>
            <a:r>
              <a:rPr sz="2000" b="1" i="0">
                <a:solidFill>
                  <a:srgbClr val="1A3A5C"/>
                </a:solidFill>
                <a:latin typeface="Calibri"/>
              </a:rPr>
              <a:t>2</a:t>
            </a:r>
          </a:p>
        </p:txBody>
      </p:sp>
      <p:sp>
        <p:nvSpPr>
          <p:cNvPr id="14" name="TextBox 13"/>
          <p:cNvSpPr txBox="1"/>
          <p:nvPr/>
        </p:nvSpPr>
        <p:spPr>
          <a:xfrm>
            <a:off x="1097280" y="2468880"/>
            <a:ext cx="10607040" cy="777240"/>
          </a:xfrm>
          <a:prstGeom prst="rect">
            <a:avLst/>
          </a:prstGeom>
          <a:noFill/>
        </p:spPr>
        <p:txBody>
          <a:bodyPr wrap="square">
            <a:spAutoFit/>
          </a:bodyPr>
          <a:lstStyle/>
          <a:p>
            <a:pPr algn="l"/>
            <a:r>
              <a:rPr sz="1400" b="0" i="0">
                <a:solidFill>
                  <a:srgbClr val="FFFFFF"/>
                </a:solidFill>
                <a:latin typeface="Calibri"/>
              </a:rPr>
              <a:t>Built a complete end-to-end system: Modbus RTU polling → 15-min aggregation → 20-feature ML inference → Neon PostgreSQL → Streamlit dashboard — at zero recurring cloud cost.</a:t>
            </a:r>
          </a:p>
        </p:txBody>
      </p:sp>
      <p:sp>
        <p:nvSpPr>
          <p:cNvPr id="15" name="Rectangle 14"/>
          <p:cNvSpPr/>
          <p:nvPr/>
        </p:nvSpPr>
        <p:spPr>
          <a:xfrm>
            <a:off x="365760" y="3383280"/>
            <a:ext cx="594360" cy="77724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566160"/>
            <a:ext cx="594360" cy="457200"/>
          </a:xfrm>
          <a:prstGeom prst="rect">
            <a:avLst/>
          </a:prstGeom>
          <a:noFill/>
        </p:spPr>
        <p:txBody>
          <a:bodyPr wrap="square">
            <a:spAutoFit/>
          </a:bodyPr>
          <a:lstStyle/>
          <a:p>
            <a:pPr algn="ctr"/>
            <a:r>
              <a:rPr sz="2000" b="1" i="0">
                <a:solidFill>
                  <a:srgbClr val="1A3A5C"/>
                </a:solidFill>
                <a:latin typeface="Calibri"/>
              </a:rPr>
              <a:t>3</a:t>
            </a:r>
          </a:p>
        </p:txBody>
      </p:sp>
      <p:sp>
        <p:nvSpPr>
          <p:cNvPr id="17" name="TextBox 16"/>
          <p:cNvSpPr txBox="1"/>
          <p:nvPr/>
        </p:nvSpPr>
        <p:spPr>
          <a:xfrm>
            <a:off x="1097280" y="3429000"/>
            <a:ext cx="10607040" cy="777240"/>
          </a:xfrm>
          <a:prstGeom prst="rect">
            <a:avLst/>
          </a:prstGeom>
          <a:noFill/>
        </p:spPr>
        <p:txBody>
          <a:bodyPr wrap="square">
            <a:spAutoFit/>
          </a:bodyPr>
          <a:lstStyle/>
          <a:p>
            <a:pPr algn="l"/>
            <a:r>
              <a:rPr sz="1400" b="0" i="0">
                <a:solidFill>
                  <a:srgbClr val="FFFFFF"/>
                </a:solidFill>
                <a:latin typeface="Calibri"/>
              </a:rPr>
              <a:t>Contributed the first labelled dataset for CT bypass on a CHINT DTSU666 Modbus meter (8 scenarios, ~160K samples) — filling a gap in published Sub-Saharan Africa literature.</a:t>
            </a:r>
          </a:p>
        </p:txBody>
      </p:sp>
      <p:sp>
        <p:nvSpPr>
          <p:cNvPr id="18" name="Rectangle 17"/>
          <p:cNvSpPr/>
          <p:nvPr/>
        </p:nvSpPr>
        <p:spPr>
          <a:xfrm>
            <a:off x="365760" y="4343400"/>
            <a:ext cx="594360" cy="777240"/>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4526280"/>
            <a:ext cx="594360" cy="457200"/>
          </a:xfrm>
          <a:prstGeom prst="rect">
            <a:avLst/>
          </a:prstGeom>
          <a:noFill/>
        </p:spPr>
        <p:txBody>
          <a:bodyPr wrap="square">
            <a:spAutoFit/>
          </a:bodyPr>
          <a:lstStyle/>
          <a:p>
            <a:pPr algn="ctr"/>
            <a:r>
              <a:rPr sz="2000" b="1" i="0">
                <a:solidFill>
                  <a:srgbClr val="1A3A5C"/>
                </a:solidFill>
                <a:latin typeface="Calibri"/>
              </a:rPr>
              <a:t>4</a:t>
            </a:r>
          </a:p>
        </p:txBody>
      </p:sp>
      <p:sp>
        <p:nvSpPr>
          <p:cNvPr id="20" name="TextBox 19"/>
          <p:cNvSpPr txBox="1"/>
          <p:nvPr/>
        </p:nvSpPr>
        <p:spPr>
          <a:xfrm>
            <a:off x="1097280" y="4389120"/>
            <a:ext cx="10607040" cy="777240"/>
          </a:xfrm>
          <a:prstGeom prst="rect">
            <a:avLst/>
          </a:prstGeom>
          <a:noFill/>
        </p:spPr>
        <p:txBody>
          <a:bodyPr wrap="square">
            <a:spAutoFit/>
          </a:bodyPr>
          <a:lstStyle/>
          <a:p>
            <a:pPr algn="l"/>
            <a:r>
              <a:rPr sz="1400" b="0" i="0">
                <a:solidFill>
                  <a:srgbClr val="FFFFFF"/>
                </a:solidFill>
                <a:latin typeface="Calibri"/>
              </a:rPr>
              <a:t>Edge inference (&lt; 2 ms) ensures theft detection operates without internet — cloud is display-only. System degrades gracefully during connectivity outages.</a:t>
            </a:r>
          </a:p>
        </p:txBody>
      </p:sp>
      <p:sp>
        <p:nvSpPr>
          <p:cNvPr id="21" name="Rectangle 20"/>
          <p:cNvSpPr/>
          <p:nvPr/>
        </p:nvSpPr>
        <p:spPr>
          <a:xfrm>
            <a:off x="365760" y="5212079"/>
            <a:ext cx="11430000"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5349240"/>
            <a:ext cx="11430000" cy="731520"/>
          </a:xfrm>
          <a:prstGeom prst="rect">
            <a:avLst/>
          </a:prstGeom>
          <a:noFill/>
        </p:spPr>
        <p:txBody>
          <a:bodyPr wrap="square">
            <a:spAutoFit/>
          </a:bodyPr>
          <a:lstStyle/>
          <a:p>
            <a:pPr algn="ctr"/>
            <a:r>
              <a:rPr sz="1400" b="1" i="0">
                <a:solidFill>
                  <a:srgbClr val="C49A22"/>
                </a:solidFill>
                <a:latin typeface="Calibri"/>
              </a:rPr>
              <a:t>The system is ready for field pilot deployment. With real-world retraining, it has the potential to reduce UEDCL's NTL detection delay from 3–6 months to under 15 minutes.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400" b="1" i="0">
                <a:solidFill>
                  <a:srgbClr val="FFFFFF"/>
                </a:solidFill>
                <a:latin typeface="Calibri"/>
              </a:rPr>
              <a:t>References</a:t>
            </a:r>
          </a:p>
        </p:txBody>
      </p:sp>
      <p:sp>
        <p:nvSpPr>
          <p:cNvPr id="4" name="Rectangle 3"/>
          <p:cNvSpPr/>
          <p:nvPr/>
        </p:nvSpPr>
        <p:spPr>
          <a:xfrm>
            <a:off x="0" y="1097280"/>
            <a:ext cx="12188952" cy="54864"/>
          </a:xfrm>
          <a:prstGeom prst="rect">
            <a:avLst/>
          </a:prstGeom>
          <a:solidFill>
            <a:srgbClr val="C49A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492240"/>
            <a:ext cx="12188952" cy="3657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510528"/>
            <a:ext cx="9144000" cy="329184"/>
          </a:xfrm>
          <a:prstGeom prst="rect">
            <a:avLst/>
          </a:prstGeom>
          <a:noFill/>
        </p:spPr>
        <p:txBody>
          <a:bodyPr wrap="square">
            <a:spAutoFit/>
          </a:bodyPr>
          <a:lstStyle/>
          <a:p>
            <a:pPr algn="l"/>
            <a:r>
              <a:rPr sz="900" b="0" i="0">
                <a:solidFill>
                  <a:srgbClr val="F2F2F2"/>
                </a:solidFill>
                <a:latin typeface="Calibri"/>
              </a:rPr>
              <a:t>Ndejje University  |  Dept. of Electrical &amp; Electronics Engineering</a:t>
            </a:r>
          </a:p>
        </p:txBody>
      </p:sp>
      <p:sp>
        <p:nvSpPr>
          <p:cNvPr id="7" name="TextBox 6"/>
          <p:cNvSpPr txBox="1"/>
          <p:nvPr/>
        </p:nvSpPr>
        <p:spPr>
          <a:xfrm>
            <a:off x="11430000" y="6510528"/>
            <a:ext cx="640080" cy="329184"/>
          </a:xfrm>
          <a:prstGeom prst="rect">
            <a:avLst/>
          </a:prstGeom>
          <a:noFill/>
        </p:spPr>
        <p:txBody>
          <a:bodyPr wrap="square">
            <a:spAutoFit/>
          </a:bodyPr>
          <a:lstStyle/>
          <a:p>
            <a:pPr algn="r"/>
            <a:r>
              <a:rPr sz="900" b="0" i="0">
                <a:solidFill>
                  <a:srgbClr val="F2F2F2"/>
                </a:solidFill>
                <a:latin typeface="Calibri"/>
              </a:rPr>
              <a:t>17 / 17</a:t>
            </a:r>
          </a:p>
        </p:txBody>
      </p:sp>
      <p:sp>
        <p:nvSpPr>
          <p:cNvPr id="8" name="Rectangle 7"/>
          <p:cNvSpPr/>
          <p:nvPr/>
        </p:nvSpPr>
        <p:spPr>
          <a:xfrm>
            <a:off x="365760" y="1325880"/>
            <a:ext cx="5394960" cy="777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89888"/>
            <a:ext cx="5212080" cy="731520"/>
          </a:xfrm>
          <a:prstGeom prst="rect">
            <a:avLst/>
          </a:prstGeom>
          <a:noFill/>
        </p:spPr>
        <p:txBody>
          <a:bodyPr wrap="square">
            <a:spAutoFit/>
          </a:bodyPr>
          <a:lstStyle/>
          <a:p>
            <a:pPr algn="l"/>
            <a:r>
              <a:rPr sz="1100" b="0" i="0">
                <a:solidFill>
                  <a:srgbClr val="FFFFFF"/>
                </a:solidFill>
                <a:latin typeface="Calibri"/>
              </a:rPr>
              <a:t>[1] Buzau et al. (2018). Detection of NTL using smart meter data and supervised learning. IEEE Trans. Smart Grid, 10(3).</a:t>
            </a:r>
          </a:p>
        </p:txBody>
      </p:sp>
      <p:sp>
        <p:nvSpPr>
          <p:cNvPr id="10" name="Rectangle 9"/>
          <p:cNvSpPr/>
          <p:nvPr/>
        </p:nvSpPr>
        <p:spPr>
          <a:xfrm>
            <a:off x="365760" y="2194560"/>
            <a:ext cx="5394960" cy="777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258568"/>
            <a:ext cx="5212080" cy="731520"/>
          </a:xfrm>
          <a:prstGeom prst="rect">
            <a:avLst/>
          </a:prstGeom>
          <a:noFill/>
        </p:spPr>
        <p:txBody>
          <a:bodyPr wrap="square">
            <a:spAutoFit/>
          </a:bodyPr>
          <a:lstStyle/>
          <a:p>
            <a:pPr algn="l"/>
            <a:r>
              <a:rPr sz="1100" b="0" i="0">
                <a:solidFill>
                  <a:srgbClr val="FFFFFF"/>
                </a:solidFill>
                <a:latin typeface="Calibri"/>
              </a:rPr>
              <a:t>[2] IEA. (2023). Africa Energy Outlook 2023. Paris: IEA.</a:t>
            </a:r>
          </a:p>
        </p:txBody>
      </p:sp>
      <p:sp>
        <p:nvSpPr>
          <p:cNvPr id="12" name="Rectangle 11"/>
          <p:cNvSpPr/>
          <p:nvPr/>
        </p:nvSpPr>
        <p:spPr>
          <a:xfrm>
            <a:off x="365760" y="3063240"/>
            <a:ext cx="5394960" cy="777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3127248"/>
            <a:ext cx="5212080" cy="731520"/>
          </a:xfrm>
          <a:prstGeom prst="rect">
            <a:avLst/>
          </a:prstGeom>
          <a:noFill/>
        </p:spPr>
        <p:txBody>
          <a:bodyPr wrap="square">
            <a:spAutoFit/>
          </a:bodyPr>
          <a:lstStyle/>
          <a:p>
            <a:pPr algn="l"/>
            <a:r>
              <a:rPr sz="1100" b="0" i="0">
                <a:solidFill>
                  <a:srgbClr val="FFFFFF"/>
                </a:solidFill>
                <a:latin typeface="Calibri"/>
              </a:rPr>
              <a:t>[3] Jokar et al. (2016). Electricity theft detection in AMI. IEEE Trans. Smart Grid, 7(1), 216–226.</a:t>
            </a:r>
          </a:p>
        </p:txBody>
      </p:sp>
      <p:sp>
        <p:nvSpPr>
          <p:cNvPr id="14" name="Rectangle 13"/>
          <p:cNvSpPr/>
          <p:nvPr/>
        </p:nvSpPr>
        <p:spPr>
          <a:xfrm>
            <a:off x="365760" y="3931920"/>
            <a:ext cx="5394960" cy="777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995928"/>
            <a:ext cx="5212080" cy="731520"/>
          </a:xfrm>
          <a:prstGeom prst="rect">
            <a:avLst/>
          </a:prstGeom>
          <a:noFill/>
        </p:spPr>
        <p:txBody>
          <a:bodyPr wrap="square">
            <a:spAutoFit/>
          </a:bodyPr>
          <a:lstStyle/>
          <a:p>
            <a:pPr algn="l"/>
            <a:r>
              <a:rPr sz="1100" b="0" i="0">
                <a:solidFill>
                  <a:srgbClr val="FFFFFF"/>
                </a:solidFill>
                <a:latin typeface="Calibri"/>
              </a:rPr>
              <a:t>[4] Merenda et al. (2020). Edge machine learning for AI-enabled IoT devices. Sensors, 20(9).</a:t>
            </a:r>
          </a:p>
        </p:txBody>
      </p:sp>
      <p:sp>
        <p:nvSpPr>
          <p:cNvPr id="16" name="Rectangle 15"/>
          <p:cNvSpPr/>
          <p:nvPr/>
        </p:nvSpPr>
        <p:spPr>
          <a:xfrm>
            <a:off x="365760" y="4800600"/>
            <a:ext cx="5394960" cy="777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864608"/>
            <a:ext cx="5212080" cy="731520"/>
          </a:xfrm>
          <a:prstGeom prst="rect">
            <a:avLst/>
          </a:prstGeom>
          <a:noFill/>
        </p:spPr>
        <p:txBody>
          <a:bodyPr wrap="square">
            <a:spAutoFit/>
          </a:bodyPr>
          <a:lstStyle/>
          <a:p>
            <a:pPr algn="l"/>
            <a:r>
              <a:rPr sz="1100" b="0" i="0">
                <a:solidFill>
                  <a:srgbClr val="FFFFFF"/>
                </a:solidFill>
                <a:latin typeface="Calibri"/>
              </a:rPr>
              <a:t>[5] Nagi et al. (2010). Nontechnical loss detection using SVM. IEEE Trans. Power Delivery, 25(2).</a:t>
            </a:r>
          </a:p>
        </p:txBody>
      </p:sp>
      <p:sp>
        <p:nvSpPr>
          <p:cNvPr id="18" name="Rectangle 17"/>
          <p:cNvSpPr/>
          <p:nvPr/>
        </p:nvSpPr>
        <p:spPr>
          <a:xfrm>
            <a:off x="6126480" y="1325880"/>
            <a:ext cx="5394960" cy="777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1389888"/>
            <a:ext cx="5212080" cy="731520"/>
          </a:xfrm>
          <a:prstGeom prst="rect">
            <a:avLst/>
          </a:prstGeom>
          <a:noFill/>
        </p:spPr>
        <p:txBody>
          <a:bodyPr wrap="square">
            <a:spAutoFit/>
          </a:bodyPr>
          <a:lstStyle/>
          <a:p>
            <a:pPr algn="l"/>
            <a:r>
              <a:rPr sz="1100" b="0" i="0">
                <a:solidFill>
                  <a:srgbClr val="FFFFFF"/>
                </a:solidFill>
                <a:latin typeface="Calibri"/>
              </a:rPr>
              <a:t>[6] Nalwanga &amp; Muyingo. (2020). Electricity theft in Kampala informal settlements. Energy Sustain. Dev., 58.</a:t>
            </a:r>
          </a:p>
        </p:txBody>
      </p:sp>
      <p:sp>
        <p:nvSpPr>
          <p:cNvPr id="20" name="Rectangle 19"/>
          <p:cNvSpPr/>
          <p:nvPr/>
        </p:nvSpPr>
        <p:spPr>
          <a:xfrm>
            <a:off x="6126480" y="2194560"/>
            <a:ext cx="5394960" cy="777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2258568"/>
            <a:ext cx="5212080" cy="731520"/>
          </a:xfrm>
          <a:prstGeom prst="rect">
            <a:avLst/>
          </a:prstGeom>
          <a:noFill/>
        </p:spPr>
        <p:txBody>
          <a:bodyPr wrap="square">
            <a:spAutoFit/>
          </a:bodyPr>
          <a:lstStyle/>
          <a:p>
            <a:pPr algn="l"/>
            <a:r>
              <a:rPr sz="1100" b="0" i="0">
                <a:solidFill>
                  <a:srgbClr val="FFFFFF"/>
                </a:solidFill>
                <a:latin typeface="Calibri"/>
              </a:rPr>
              <a:t>[7] Shi et al. (2016). Edge computing: Vision and challenges. IEEE IoT Journal, 3(5).</a:t>
            </a:r>
          </a:p>
        </p:txBody>
      </p:sp>
      <p:sp>
        <p:nvSpPr>
          <p:cNvPr id="22" name="Rectangle 21"/>
          <p:cNvSpPr/>
          <p:nvPr/>
        </p:nvSpPr>
        <p:spPr>
          <a:xfrm>
            <a:off x="6126480" y="3063240"/>
            <a:ext cx="5394960" cy="777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3127248"/>
            <a:ext cx="5212080" cy="731520"/>
          </a:xfrm>
          <a:prstGeom prst="rect">
            <a:avLst/>
          </a:prstGeom>
          <a:noFill/>
        </p:spPr>
        <p:txBody>
          <a:bodyPr wrap="square">
            <a:spAutoFit/>
          </a:bodyPr>
          <a:lstStyle/>
          <a:p>
            <a:pPr algn="l"/>
            <a:r>
              <a:rPr sz="1100" b="0" i="0">
                <a:solidFill>
                  <a:srgbClr val="FFFFFF"/>
                </a:solidFill>
                <a:latin typeface="Calibri"/>
              </a:rPr>
              <a:t>[8] Smith. (2004). Electricity theft: A comparative analysis. Energy Policy, 32(18).</a:t>
            </a:r>
          </a:p>
        </p:txBody>
      </p:sp>
      <p:sp>
        <p:nvSpPr>
          <p:cNvPr id="24" name="Rectangle 23"/>
          <p:cNvSpPr/>
          <p:nvPr/>
        </p:nvSpPr>
        <p:spPr>
          <a:xfrm>
            <a:off x="6126480" y="3931920"/>
            <a:ext cx="5394960" cy="777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3995928"/>
            <a:ext cx="5212080" cy="731520"/>
          </a:xfrm>
          <a:prstGeom prst="rect">
            <a:avLst/>
          </a:prstGeom>
          <a:noFill/>
        </p:spPr>
        <p:txBody>
          <a:bodyPr wrap="square">
            <a:spAutoFit/>
          </a:bodyPr>
          <a:lstStyle/>
          <a:p>
            <a:pPr algn="l"/>
            <a:r>
              <a:rPr sz="1100" b="0" i="0">
                <a:solidFill>
                  <a:srgbClr val="FFFFFF"/>
                </a:solidFill>
                <a:latin typeface="Calibri"/>
              </a:rPr>
              <a:t>[9] UEDCL. (2024). Annual Report 2023/2024. Kampala: UEDCL.</a:t>
            </a:r>
          </a:p>
        </p:txBody>
      </p:sp>
      <p:sp>
        <p:nvSpPr>
          <p:cNvPr id="26" name="Rectangle 25"/>
          <p:cNvSpPr/>
          <p:nvPr/>
        </p:nvSpPr>
        <p:spPr>
          <a:xfrm>
            <a:off x="6126480" y="4800600"/>
            <a:ext cx="5394960" cy="7772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4864608"/>
            <a:ext cx="5212080" cy="731520"/>
          </a:xfrm>
          <a:prstGeom prst="rect">
            <a:avLst/>
          </a:prstGeom>
          <a:noFill/>
        </p:spPr>
        <p:txBody>
          <a:bodyPr wrap="square">
            <a:spAutoFit/>
          </a:bodyPr>
          <a:lstStyle/>
          <a:p>
            <a:pPr algn="l"/>
            <a:r>
              <a:rPr sz="1100" b="0" i="0">
                <a:solidFill>
                  <a:srgbClr val="FFFFFF"/>
                </a:solidFill>
                <a:latin typeface="Calibri"/>
              </a:rPr>
              <a:t>[10] Zheng et al. (2017). Wide and deep CNN for electricity-theft detection. IEEE Trans. Ind. Inf., 14(4).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