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73152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B88600"/>
                </a:solidFill>
              </a:rPr>
              <a:t>⚡ LUBEGA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AI-POWERED ELECTRICITY THEFT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CCFF"/>
                </a:solidFill>
              </a:rPr>
              <a:t>Real-time CT bypass detection using Raspberry Pi + VotingClassifier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</a:rPr>
              <a:t>UEDCL Distribution Monitoring · Ndejje University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88600"/>
                </a:solidFill>
              </a:rPr>
              <a:t>[Student Name 1] | [Student Name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Supervisor: [Supervisor Name]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029200"/>
            <a:ext cx="3959352" cy="59436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047488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🟢  DASHBOARD LIVE — lubegacode.streamlit.app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The Problem — and Why It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486400" cy="4114800"/>
          </a:xfrm>
          <a:prstGeom prst="rect">
            <a:avLst/>
          </a:prstGeom>
          <a:solidFill>
            <a:srgbClr val="E8F0FE"/>
          </a:solidFill>
          <a:ln w="12700">
            <a:solidFill>
              <a:srgbClr val="10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3A61"/>
                </a:solidFill>
              </a:rPr>
              <a:t>Uganda's Distribution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• 40-60% non-technical losses in Kampala
urban areas (Bwaise, Kisenyi, Katwe)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• UGX 280 billion annual revenue lost
by UEDCL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• 95% of meters have no real-time
monitoring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• Manual detection: &lt; 35% effective,
3-6 month delays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669280" cy="4114800"/>
          </a:xfrm>
          <a:prstGeom prst="rect">
            <a:avLst/>
          </a:prstGeom>
          <a:solidFill>
            <a:srgbClr val="FFF3CC"/>
          </a:solidFill>
          <a:ln w="1270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06000"/>
                </a:solidFill>
              </a:rPr>
              <a:t>CT Bypass Tampering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The thief bypasses one or more Current Transformer (CT) clamps on the energy meter.
Voltage registers correctly.
Current is under-reported.
Electricity is consumed but not fully billed.
Result: 40-90% reduction in billed
consumption — undetected for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657600" cy="20116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Collect Labelled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2140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Record ~160K readings across 8 CT bypass scenarios at 10-second intervals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657600" cy="20116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Engineer 20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2140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Current/voltage imbalance, zero-value flags, power efficiency 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657600" cy="20116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72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Train Ensemble ML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2140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VotingClassifier (RF + XGBoost) — target AUC &gt; 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3657600" cy="201168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Deploy Edge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407407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Live inference on Raspberry Pi 4 as a systemd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749039"/>
            <a:ext cx="3657600" cy="201168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3858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5. Build Cloud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407407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Real-time operator dashboard on Streamlit Community Cloud at $0/month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What Exists — and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474720" cy="10972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0"/>
                </a:solidFill>
              </a:rPr>
              <a:t>Nagi et al. (2011)
IEEE Trans. Power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1732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First demonstration of SVM-based NTL detection on smart meter data — established supervised classification as the dominant paradigm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06040"/>
            <a:ext cx="3474720" cy="10972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697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0"/>
                </a:solidFill>
              </a:rPr>
              <a:t>Jokar et al. (2016)
IEEE Trans. Smart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517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Random Forests outperform SVMs on imbalanced NTL datasets — balanced class weights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3474720" cy="10972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0"/>
                </a:solidFill>
              </a:rPr>
              <a:t>Zanetti et al. (2017)
IEEE Trans. Smart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8862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Ensemble methods (Voting, Stacking) consistently best single classifiers for fraud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74920"/>
            <a:ext cx="3474720" cy="10972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166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0"/>
                </a:solidFill>
              </a:rPr>
              <a:t>Warden &amp; Situnayake (2019)
TinyML — O'Reilly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1206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Edge ML on single-board computers is viable for real-time classification without cloud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035040"/>
            <a:ext cx="1164031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Gap: No study addresses real-time 10-second edge inference for CT bypass detection in Uganda's distribution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System Architecture — 3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749039" cy="502920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08760"/>
            <a:ext cx="3529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1 — Raspberry Pi 4 (Edge)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94560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CHINT DTSU666 meter via Modbus RTU RS485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971800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main.py: polls every 10s, aggregates every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749039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detect.py: reads latest_reading.json every 10s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526279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VotingClassifier inference locally on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3A61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49039" cy="5029200"/>
          </a:xfrm>
          <a:prstGeom prst="rect">
            <a:avLst/>
          </a:prstGeom>
          <a:solidFill>
            <a:srgbClr val="14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508760"/>
            <a:ext cx="3529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2 — Neon PostgreSQL (Cloud)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194560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lubega-production project (free tier)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971800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alerts table: pred, prob, phase readings, timestamp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749039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readings table: live meter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526279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Pi writes via psycopg2 direct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3A6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417320"/>
            <a:ext cx="3749039" cy="502920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508760"/>
            <a:ext cx="3529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Layer 3 — Streamlit Dashboard (LIVE)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lubegacode-tbn4wlkpdrzqhjahqssdvf.streamlit.app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971800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KPIs: total alerts, 24h, latest prob, last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749039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Colour-coded alerts table (red &gt;=90%, yellow &gt;=70%)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526279"/>
            <a:ext cx="35295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Live phase current/voltage/power 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Feature Engineering → Model →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40312" cy="6400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20 FEATURES  =  9 Raw Meter Values  +  11 Engineered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48840"/>
            <a:ext cx="2743200" cy="4297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0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A61"/>
                </a:solidFill>
              </a:rPr>
              <a:t>Raw (9)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I_L1, I_L2, I_L3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V_L1, V_L2, V_L3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867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P_total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608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PF_total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Frequency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2148840"/>
            <a:ext cx="2743200" cy="4297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0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A61"/>
                </a:solidFill>
              </a:rPr>
              <a:t>Engineered (11)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I_imbalance, V_imbalance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33649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I_L1/L2/L3_zero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39867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V_L1/L2/L3_zero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608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PF_zero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3A61"/>
                </a:solidFill>
              </a:rPr>
              <a:t>• I_total, P_per_I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2148840"/>
            <a:ext cx="2743200" cy="4297680"/>
          </a:xfrm>
          <a:prstGeom prst="rect">
            <a:avLst/>
          </a:prstGeom>
          <a:solidFill>
            <a:srgbClr val="103A61"/>
          </a:solidFill>
          <a:ln w="12700">
            <a:solidFill>
              <a:srgbClr val="10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VotingClassifier (soft)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649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RandomForest 200 trees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39867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XGBoost 200 rounds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08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AUC = 1.0000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14.4 MB on 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97696" y="2148840"/>
            <a:ext cx="2743200" cy="4297680"/>
          </a:xfrm>
          <a:prstGeom prst="rect">
            <a:avLst/>
          </a:prstGeom>
          <a:solidFill>
            <a:srgbClr val="1A6B2A"/>
          </a:solidFill>
          <a:ln w="12700">
            <a:solidFill>
              <a:srgbClr val="10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212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detect.py on 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3649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Reads JSON every 10s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9867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scaler.pkl → model.pkl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460857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prob &gt; 0.5 → INSERT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5230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systemd auto-restart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Model Performance + System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743200" cy="2011680"/>
          </a:xfrm>
          <a:prstGeom prst="rect">
            <a:avLst/>
          </a:prstGeom>
          <a:solidFill>
            <a:srgbClr val="1A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871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Test AUC
(perfect classification)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2112" y="1417320"/>
            <a:ext cx="2743200" cy="201168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160K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4871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Training rows
(8 bypass scenarios)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417320"/>
            <a:ext cx="2743200" cy="2011680"/>
          </a:xfrm>
          <a:prstGeom prst="rect">
            <a:avLst/>
          </a:prstGeom>
          <a:solidFill>
            <a:srgbClr val="145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4871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Feature dimensions
per reading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7696" y="1417320"/>
            <a:ext cx="2743200" cy="201168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&lt; 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4871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Inference latency
on Raspberry Pi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80"/>
            <a:ext cx="11640312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1A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2A"/>
                </a:solidFill>
              </a:rPr>
              <a:t>✅  Dashboard Live —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URL: lubegacode-tbn4wlkpdrzqhjahqssdvf.streamlit.app
Status: Connected to Neon PostgreSQL lubega-production
Displaying: KPIs (0 alerts — system monitoring), colour-coded table, phase charts, alert trend
Next: Dennis deploys theft-detector.service on Pi → first real alert appears on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Achievements, Limitations,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5120640"/>
          </a:xfrm>
          <a:prstGeom prst="rect">
            <a:avLst/>
          </a:prstGeom>
          <a:solidFill>
            <a:srgbClr val="E8F0FE"/>
          </a:solidFill>
          <a:ln w="12700">
            <a:solidFill>
              <a:srgbClr val="103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3A61"/>
                </a:solidFill>
              </a:rPr>
              <a:t>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✓  AUC 1.0 across all 8 bypass scenarios — model generalises to all CT bypass patterns encountered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✓  Zero recurring cloud cost — Neon + Streamlit free tiers sufficient for production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✓  Edge inference eliminates cloud round-trip — detection fires within 10 seconds of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✓  Dashboard live and publicly accessible before Pi inference is deployed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✓  Structurizr C4 architecture + 4 ADRs document all design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✓  AUC 1.0 across all 8 bypass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✓  $0/month cloud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✓  10-second detection latency (edge inference)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✓  Dashboard live before Pi inference 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✓  Structurizr C4 architecture + 4 ADRs documented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669280" cy="5120640"/>
          </a:xfrm>
          <a:prstGeom prst="rect">
            <a:avLst/>
          </a:prstGeom>
          <a:solidFill>
            <a:srgbClr val="FFF3CC"/>
          </a:solidFill>
          <a:ln w="1270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06000"/>
                </a:solidFill>
              </a:rPr>
              <a:t>Limitations &amp;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→  Model trained on 1 meter only — test on multiple meters with varied 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39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→  CT bypass scenarios only — illegal connections and meter clocking not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→  theft-detector.service not yet deployed on Pi — end-to-end test 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→  No SMS/WhatsApp alerting yet — Africa's Talking API 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40679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3A61"/>
                </a:solidFill>
              </a:rPr>
              <a:t>→  ONNX export for faster Pi inference — future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1640312" cy="256032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Lubega demonstrates that high-accuracy, real-time electricity theft detection is achievable at zero cloud cost using commodity hardware and open-source 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</a:rPr>
              <a:t>The VotingClassifier (RF + XGBoost) achieves AUC = 1.0000 on 8 CT bypass scenarios. The Streamlit dashboard is live. The Pi inference service is the remaining critical step to full system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A61"/>
                </a:solidFill>
              </a:rPr>
              <a:t>Recommendations: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  1.  Deploy theft-detector.service on Pi — completes end-to-end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474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  2.  Add Africa's Talking SMS alerts — immediate operator notification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229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  3.  Extend to multiple meters via ZeroTier network — scale to district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984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3A61"/>
                </a:solidFill>
              </a:rPr>
              <a:t>  4.  Publish as open-source reference architecture for African utility NTL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0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UEDCL Annual Report 2023. Uganda Electricity Distribution Company Limited, Kampala.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756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World Bank (2020). Electricity Distribution Losses in Sub-Saharan Africa. World Bank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3405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Nagi, J. et al. (2011). Nontechnical loss detection using support vector machines. IEEE Trans. Power Delivery, 25(2).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9242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Jokar, P. et al. (2016). Electricity theft detection in AMI using customers' consumption patterns. IEEE Trans. Smart Grid, 7(1).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50791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Zanetti, M. et al. (2017). A tunable fraud detection system for AMI using short-lived patterns. IEEE Trans. Smart Grid, 10(1).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59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Warden, P., &amp; Situnayake, D. (2019). TinyML: Machine Learning with TensorFlow Lite. O'Reilly Media.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675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03A61"/>
                </a:solidFill>
              </a:rPr>
              <a:t>CHINT Electric (2022). DTSU666 Modbus Communication Protocol Specification. CHINT Group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Lubega — AI-Powered Electricity Theft Detection | Ndejje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